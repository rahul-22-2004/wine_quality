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257" r:id="rId3"/>
    <p:sldId id="394" r:id="rId4"/>
    <p:sldId id="258" r:id="rId5"/>
    <p:sldId id="260" r:id="rId6"/>
    <p:sldId id="261" r:id="rId7"/>
    <p:sldId id="298" r:id="rId8"/>
    <p:sldId id="263" r:id="rId9"/>
    <p:sldId id="383" r:id="rId10"/>
    <p:sldId id="308" r:id="rId11"/>
    <p:sldId id="407" r:id="rId12"/>
    <p:sldId id="408" r:id="rId13"/>
    <p:sldId id="409" r:id="rId14"/>
    <p:sldId id="410" r:id="rId15"/>
    <p:sldId id="411" r:id="rId16"/>
    <p:sldId id="430" r:id="rId17"/>
    <p:sldId id="427" r:id="rId18"/>
    <p:sldId id="431" r:id="rId19"/>
    <p:sldId id="428" r:id="rId20"/>
    <p:sldId id="432" r:id="rId21"/>
    <p:sldId id="429" r:id="rId22"/>
    <p:sldId id="412" r:id="rId23"/>
    <p:sldId id="266" r:id="rId24"/>
    <p:sldId id="395" r:id="rId25"/>
    <p:sldId id="396" r:id="rId26"/>
    <p:sldId id="397" r:id="rId27"/>
    <p:sldId id="398" r:id="rId28"/>
    <p:sldId id="399" r:id="rId29"/>
    <p:sldId id="414" r:id="rId30"/>
    <p:sldId id="415" r:id="rId31"/>
    <p:sldId id="416" r:id="rId32"/>
    <p:sldId id="417" r:id="rId33"/>
    <p:sldId id="418" r:id="rId34"/>
    <p:sldId id="419" r:id="rId35"/>
    <p:sldId id="420" r:id="rId36"/>
    <p:sldId id="421" r:id="rId37"/>
    <p:sldId id="422" r:id="rId38"/>
    <p:sldId id="438" r:id="rId39"/>
    <p:sldId id="439" r:id="rId40"/>
    <p:sldId id="440" r:id="rId41"/>
    <p:sldId id="441" r:id="rId42"/>
    <p:sldId id="442" r:id="rId43"/>
    <p:sldId id="436" r:id="rId44"/>
    <p:sldId id="437" r:id="rId45"/>
    <p:sldId id="346" r:id="rId46"/>
    <p:sldId id="354" r:id="rId47"/>
    <p:sldId id="287"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434" autoAdjust="0"/>
  </p:normalViewPr>
  <p:slideViewPr>
    <p:cSldViewPr snapToGrid="0">
      <p:cViewPr>
        <p:scale>
          <a:sx n="75" d="100"/>
          <a:sy n="75" d="100"/>
        </p:scale>
        <p:origin x="63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CE501F-CD1C-4216-AE69-36E606679034}" type="datetimeFigureOut">
              <a:rPr lang="en-IN" smtClean="0"/>
              <a:t>20-03-2025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FFE07-7815-44DB-B341-7D7708DAFEF0}" type="slidenum">
              <a:rPr lang="en-IN" smtClean="0"/>
              <a:t>‹#›</a:t>
            </a:fld>
            <a:endParaRPr lang="en-IN"/>
          </a:p>
        </p:txBody>
      </p:sp>
    </p:spTree>
    <p:extLst>
      <p:ext uri="{BB962C8B-B14F-4D97-AF65-F5344CB8AC3E}">
        <p14:creationId xmlns:p14="http://schemas.microsoft.com/office/powerpoint/2010/main" val="177909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747211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2883931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C61B8BA-8C01-4062-BDEE-CF2683840E9A}"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201939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C61B8BA-8C01-4062-BDEE-CF2683840E9A}" type="datetimeFigureOut">
              <a:rPr lang="en-IN" smtClean="0"/>
              <a:t>20-03-2025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079882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C61B8BA-8C01-4062-BDEE-CF2683840E9A}" type="datetimeFigureOut">
              <a:rPr lang="en-IN" smtClean="0"/>
              <a:t>20-03-2025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277075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C61B8BA-8C01-4062-BDEE-CF2683840E9A}" type="datetimeFigureOut">
              <a:rPr lang="en-IN" smtClean="0"/>
              <a:t>20-03-2025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5370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61B8BA-8C01-4062-BDEE-CF2683840E9A}" type="datetimeFigureOut">
              <a:rPr lang="en-IN" smtClean="0"/>
              <a:t>20-03-2025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3737012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61B8BA-8C01-4062-BDEE-CF2683840E9A}" type="datetimeFigureOut">
              <a:rPr lang="en-IN" smtClean="0"/>
              <a:t>20-03-2025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3927424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61B8BA-8C01-4062-BDEE-CF2683840E9A}" type="datetimeFigureOut">
              <a:rPr lang="en-IN" smtClean="0"/>
              <a:t>20-03-2025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3997955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800998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288684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61B8BA-8C01-4062-BDEE-CF2683840E9A}" type="datetimeFigureOut">
              <a:rPr lang="en-IN" smtClean="0"/>
              <a:t>20-03-2025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A2DE6C-0E8E-4FF2-9EF3-9145EE6F7FF6}" type="slidenum">
              <a:rPr lang="en-IN" smtClean="0"/>
              <a:t>‹#›</a:t>
            </a:fld>
            <a:endParaRPr lang="en-IN"/>
          </a:p>
        </p:txBody>
      </p:sp>
    </p:spTree>
    <p:extLst>
      <p:ext uri="{BB962C8B-B14F-4D97-AF65-F5344CB8AC3E}">
        <p14:creationId xmlns:p14="http://schemas.microsoft.com/office/powerpoint/2010/main" val="11220051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www.ijml-journal.org/volume15/issue2/150-165" TargetMode="External"/><Relationship Id="rId2" Type="http://schemas.openxmlformats.org/officeDocument/2006/relationships/hyperlink" Target="https://www.jds-journal.org/volume12/issue4/98-112" TargetMode="External"/><Relationship Id="rId1" Type="http://schemas.openxmlformats.org/officeDocument/2006/relationships/slideLayout" Target="../slideLayouts/slideLayout2.xml"/><Relationship Id="rId4" Type="http://schemas.openxmlformats.org/officeDocument/2006/relationships/hyperlink" Target="https://www.cia-journal.org/volume7/issue3/123-136" TargetMode="External"/></Relationships>
</file>

<file path=ppt/slides/_rels/slide46.xml.rels><?xml version="1.0" encoding="UTF-8" standalone="yes"?>
<Relationships xmlns="http://schemas.openxmlformats.org/package/2006/relationships"><Relationship Id="rId3" Type="http://schemas.openxmlformats.org/officeDocument/2006/relationships/hyperlink" Target="https://www.jpa-journal.org/volume11/issue4/55-67" TargetMode="External"/><Relationship Id="rId2" Type="http://schemas.openxmlformats.org/officeDocument/2006/relationships/hyperlink" Target="https://www.jwmr-journal.org/volume8/issue1/78-92" TargetMode="External"/><Relationship Id="rId1" Type="http://schemas.openxmlformats.org/officeDocument/2006/relationships/slideLayout" Target="../slideLayouts/slideLayout2.xml"/><Relationship Id="rId4" Type="http://schemas.openxmlformats.org/officeDocument/2006/relationships/hyperlink" Target="https://www.jaib-journal.org/volume14/issue2/200-215"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4307" y="216362"/>
            <a:ext cx="11658600" cy="63865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i="1" dirty="0"/>
          </a:p>
        </p:txBody>
      </p:sp>
      <p:sp>
        <p:nvSpPr>
          <p:cNvPr id="2" name="Title 1"/>
          <p:cNvSpPr>
            <a:spLocks noGrp="1"/>
          </p:cNvSpPr>
          <p:nvPr>
            <p:ph type="ctrTitle"/>
          </p:nvPr>
        </p:nvSpPr>
        <p:spPr>
          <a:xfrm>
            <a:off x="758633" y="2756077"/>
            <a:ext cx="10589947" cy="1027025"/>
          </a:xfrm>
        </p:spPr>
        <p:txBody>
          <a:bodyPr>
            <a:normAutofit fontScale="90000"/>
          </a:bodyPr>
          <a:lstStyle/>
          <a:p>
            <a:r>
              <a:rPr lang="en-US" sz="4000" b="1" dirty="0">
                <a:latin typeface="Times New Roman" panose="02020603050405020304" pitchFamily="18" charset="0"/>
                <a:cs typeface="Times New Roman" panose="02020603050405020304" pitchFamily="18" charset="0"/>
              </a:rPr>
              <a:t>Using Machine Learning to Predict Wine Quality and Prices: A Demonstrative Case Using a Large Tabular Database</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00473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 name="Title 1"/>
          <p:cNvSpPr>
            <a:spLocks noGrp="1"/>
          </p:cNvSpPr>
          <p:nvPr>
            <p:ph type="title"/>
          </p:nvPr>
        </p:nvSpPr>
        <p:spPr>
          <a:xfrm>
            <a:off x="672889" y="242888"/>
            <a:ext cx="10441579" cy="841071"/>
          </a:xfrm>
        </p:spPr>
        <p:txBody>
          <a:bodyPr>
            <a:normAutofit/>
          </a:bodyPr>
          <a:lstStyle/>
          <a:p>
            <a:pPr algn="ctr"/>
            <a:r>
              <a:rPr lang="en-US" b="1" dirty="0" smtClean="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5" name="Rectangle 1"/>
          <p:cNvSpPr>
            <a:spLocks noGrp="1" noChangeArrowheads="1"/>
          </p:cNvSpPr>
          <p:nvPr>
            <p:ph idx="1"/>
          </p:nvPr>
        </p:nvSpPr>
        <p:spPr bwMode="auto">
          <a:xfrm>
            <a:off x="511175" y="1794137"/>
            <a:ext cx="11325225"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This project demonstrates the use of machine learning techniques to predict wine quality and prices using a large tabular dataset. The dataset includes features like chemical properties of wine (e.g., alcohol content, acidity, pH) along with target variables such as wine quality (rated on a scale of 0-10) and price. The process involves preprocessing steps like handling missing values, feature scaling, encoding categorical variables, and detecting outliers. Various machine learning algorithms, including Random Forests and Gradient Boosting Machines (GBM), are employed to build predictive models. The model performance is evaluated using metrics such as accuracy, Mean Absolute Error (MAE), Mean Squared Error (MSE), R-squared (R²), and visualizations like confusion matrices and ROC curves. Once trained, the model can predict both wine quality and price, providing valuable insights for retailers, buyers, and wine enthusiasts.</a:t>
            </a:r>
          </a:p>
        </p:txBody>
      </p:sp>
    </p:spTree>
    <p:extLst>
      <p:ext uri="{BB962C8B-B14F-4D97-AF65-F5344CB8AC3E}">
        <p14:creationId xmlns:p14="http://schemas.microsoft.com/office/powerpoint/2010/main" val="8403078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336"/>
            <a:ext cx="10515600" cy="1325563"/>
          </a:xfrm>
        </p:spPr>
        <p:txBody>
          <a:bodyPr/>
          <a:lstStyle/>
          <a:p>
            <a:pPr algn="ctr"/>
            <a:r>
              <a:rPr lang="en-US" b="1" dirty="0" smtClean="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8" name="Rectangle 7"/>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1"/>
          <p:cNvSpPr>
            <a:spLocks noGrp="1" noChangeArrowheads="1"/>
          </p:cNvSpPr>
          <p:nvPr>
            <p:ph idx="1"/>
          </p:nvPr>
        </p:nvSpPr>
        <p:spPr bwMode="auto">
          <a:xfrm>
            <a:off x="715962" y="1386151"/>
            <a:ext cx="10760075"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prediction of wine quality and price using machine learning offers valuable insights for the wine industry, enabling retailers, buyers, and consumers to make informed decisions. Wine characteristics such as chemical properties (alcohol content, acidity, pH) play a significant role in determining both the quality and price of a bottle. By leveraging large tabular datasets, this approach utilizes various machine learning algorithms like Random Forests and Gradient Boosting Machines (GBM) to create models that predict wine quality on a scale of 0-10 and forecast wine prices. Through data preprocessing, feature engineering, and model evaluation, this methodology aims to improve accuracy and provide meaningful predictions that can aid in the analysis and valuation of wines across different markets.</a:t>
            </a:r>
          </a:p>
        </p:txBody>
      </p:sp>
    </p:spTree>
    <p:extLst>
      <p:ext uri="{BB962C8B-B14F-4D97-AF65-F5344CB8AC3E}">
        <p14:creationId xmlns:p14="http://schemas.microsoft.com/office/powerpoint/2010/main" val="40378608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5678" y="125859"/>
            <a:ext cx="10515600" cy="1325563"/>
          </a:xfrm>
        </p:spPr>
        <p:txBody>
          <a:bodyPr>
            <a:normAutofit/>
          </a:bodyPr>
          <a:lstStyle/>
          <a:p>
            <a:pPr algn="ctr"/>
            <a:r>
              <a:rPr lang="en-IN" b="1" dirty="0" smtClean="0">
                <a:latin typeface="Times New Roman" panose="02020603050405020304" pitchFamily="18" charset="0"/>
                <a:cs typeface="Times New Roman" panose="02020603050405020304" pitchFamily="18" charset="0"/>
              </a:rPr>
              <a:t>OBJECTIVES</a:t>
            </a:r>
            <a:endParaRPr lang="en-IN"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ectangle 1"/>
          <p:cNvSpPr>
            <a:spLocks noGrp="1" noChangeArrowheads="1"/>
          </p:cNvSpPr>
          <p:nvPr>
            <p:ph idx="1"/>
          </p:nvPr>
        </p:nvSpPr>
        <p:spPr bwMode="auto">
          <a:xfrm>
            <a:off x="838199" y="1818163"/>
            <a:ext cx="10817293" cy="3782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AutoNum type="arabicPeriod"/>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 a large tabular dataset with features like chemical properties, wine quality ratings, and price data. </a:t>
            </a:r>
          </a:p>
          <a:p>
            <a:pPr marL="0" marR="0" lvl="0" indent="0" algn="just" defTabSz="914400" rtl="0" eaLnBrk="0" fontAlgn="base" latinLnBrk="0" hangingPunct="0">
              <a:lnSpc>
                <a:spcPct val="150000"/>
              </a:lnSpc>
              <a:spcBef>
                <a:spcPct val="0"/>
              </a:spcBef>
              <a:spcAft>
                <a:spcPct val="0"/>
              </a:spcAft>
              <a:buClrTx/>
              <a:buSzTx/>
              <a:buFontTx/>
              <a:buAutoNum type="arabicPeriod" startAt="2"/>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Address missing values, scale features, engineer new features, encode categorical variables, and detect outliers. </a:t>
            </a:r>
          </a:p>
          <a:p>
            <a:pPr marL="0" marR="0" lvl="0" indent="0" algn="just" defTabSz="914400" rtl="0" eaLnBrk="0" fontAlgn="base" latinLnBrk="0" hangingPunct="0">
              <a:lnSpc>
                <a:spcPct val="150000"/>
              </a:lnSpc>
              <a:spcBef>
                <a:spcPct val="0"/>
              </a:spcBef>
              <a:spcAft>
                <a:spcPct val="0"/>
              </a:spcAft>
              <a:buClrTx/>
              <a:buSzTx/>
              <a:buFontTx/>
              <a:buAutoNum type="arabicPeriod" startAt="3"/>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Split the dataset into a training set (70-80%) and a test set (20-30%) for model evaluation. </a:t>
            </a:r>
          </a:p>
          <a:p>
            <a:pPr marL="0" marR="0" lvl="0" indent="0" algn="just" defTabSz="914400" rtl="0" eaLnBrk="0" fontAlgn="base" latinLnBrk="0" hangingPunct="0">
              <a:lnSpc>
                <a:spcPct val="150000"/>
              </a:lnSpc>
              <a:spcBef>
                <a:spcPct val="0"/>
              </a:spcBef>
              <a:spcAft>
                <a:spcPct val="0"/>
              </a:spcAft>
              <a:buClrTx/>
              <a:buSzTx/>
              <a:buFontTx/>
              <a:buAutoNum type="arabicPeriod" startAt="4"/>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Apply Random Forests and Gradient Boosting Machines (GBM) to predict wine quality and price. </a:t>
            </a:r>
          </a:p>
          <a:p>
            <a:pPr marL="0" marR="0" lvl="0" indent="0" algn="just" defTabSz="914400" rtl="0" eaLnBrk="0" fontAlgn="base" latinLnBrk="0" hangingPunct="0">
              <a:lnSpc>
                <a:spcPct val="150000"/>
              </a:lnSpc>
              <a:spcBef>
                <a:spcPct val="0"/>
              </a:spcBef>
              <a:spcAft>
                <a:spcPct val="0"/>
              </a:spcAft>
              <a:buClrTx/>
              <a:buSzTx/>
              <a:buFontTx/>
              <a:buAutoNum type="arabicPeriod" startAt="5"/>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Evaluate model performance using metrics like accuracy, MAE, MSE, RMSE, R², and visualizations (confusion matrix, ROC curve). </a:t>
            </a:r>
          </a:p>
          <a:p>
            <a:pPr marL="0" marR="0" lvl="0" indent="0" algn="just" defTabSz="914400" rtl="0" eaLnBrk="0" fontAlgn="base" latinLnBrk="0" hangingPunct="0">
              <a:lnSpc>
                <a:spcPct val="150000"/>
              </a:lnSpc>
              <a:spcBef>
                <a:spcPct val="0"/>
              </a:spcBef>
              <a:spcAft>
                <a:spcPct val="0"/>
              </a:spcAft>
              <a:buClrTx/>
              <a:buSzTx/>
              <a:buFontTx/>
              <a:buAutoNum type="arabicPeriod" startAt="6"/>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 the trained model to predict wine quality and price for new data based on input features. </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90392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7462"/>
            <a:ext cx="10515600" cy="1325563"/>
          </a:xfrm>
        </p:spPr>
        <p:txBody>
          <a:bodyPr>
            <a:normAutofit/>
          </a:bodyPr>
          <a:lstStyle/>
          <a:p>
            <a:pPr algn="ctr"/>
            <a:r>
              <a:rPr lang="en-US" b="1" dirty="0" smtClean="0">
                <a:latin typeface="Times New Roman" panose="02020603050405020304" pitchFamily="18" charset="0"/>
                <a:cs typeface="Times New Roman" panose="02020603050405020304" pitchFamily="18" charset="0"/>
              </a:rPr>
              <a:t>EXISTING SYSTEM</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ectangle 1"/>
          <p:cNvSpPr>
            <a:spLocks noGrp="1" noChangeArrowheads="1"/>
          </p:cNvSpPr>
          <p:nvPr>
            <p:ph idx="1"/>
          </p:nvPr>
        </p:nvSpPr>
        <p:spPr bwMode="auto">
          <a:xfrm>
            <a:off x="565150" y="1899706"/>
            <a:ext cx="11245850"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Existing systems for predicting wine quality and price typically rely on traditional statistical methods or basic machine learning models, using features such as chemical properties, vintage, and region of origin to estimate wine ratings and market value. These systems often employ linear regression, decision trees, or simpler algorithms to make predictions. However, they may not fully capture the complex relationships between different wine attributes and their impact on quality and price. Moreover, many existing systems lack the ability to integrate diverse datasets, such as auction or retail price data, limiting their predictive accuracy and generalization across different markets. As a result, more advanced ensemble methods like Random Forests and Gradient Boosting Machines (GBM) are becoming increasingly popular for improving predictive performance and handling complex, high-dimensional data.</a:t>
            </a:r>
          </a:p>
        </p:txBody>
      </p:sp>
    </p:spTree>
    <p:extLst>
      <p:ext uri="{BB962C8B-B14F-4D97-AF65-F5344CB8AC3E}">
        <p14:creationId xmlns:p14="http://schemas.microsoft.com/office/powerpoint/2010/main" val="24842681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DISADVANTAGES</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1"/>
          <p:cNvSpPr>
            <a:spLocks noGrp="1" noChangeArrowheads="1"/>
          </p:cNvSpPr>
          <p:nvPr>
            <p:ph idx="1"/>
          </p:nvPr>
        </p:nvSpPr>
        <p:spPr bwMode="auto">
          <a:xfrm>
            <a:off x="1231900" y="1609988"/>
            <a:ext cx="2198038"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AutoNum type="arabicPeriod"/>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Limited Accuracy </a:t>
            </a:r>
          </a:p>
          <a:p>
            <a:pPr marL="0" marR="0" lvl="0" indent="0" algn="just" defTabSz="914400" rtl="0" eaLnBrk="0" fontAlgn="base" latinLnBrk="0" hangingPunct="0">
              <a:lnSpc>
                <a:spcPct val="150000"/>
              </a:lnSpc>
              <a:spcBef>
                <a:spcPct val="0"/>
              </a:spcBef>
              <a:spcAft>
                <a:spcPct val="0"/>
              </a:spcAft>
              <a:buClrTx/>
              <a:buSzTx/>
              <a:buFontTx/>
              <a:buAutoNum type="arabicPeriod" startAt="2"/>
              <a:tabLst/>
            </a:pP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Overfitting</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50000"/>
              </a:lnSpc>
              <a:spcBef>
                <a:spcPct val="0"/>
              </a:spcBef>
              <a:spcAft>
                <a:spcPct val="0"/>
              </a:spcAft>
              <a:buClrTx/>
              <a:buSzTx/>
              <a:buFontTx/>
              <a:buAutoNum type="arabicPeriod" startAt="3"/>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Dependency </a:t>
            </a:r>
          </a:p>
          <a:p>
            <a:pPr marL="0" marR="0" lvl="0" indent="0" algn="just" defTabSz="914400" rtl="0" eaLnBrk="0" fontAlgn="base" latinLnBrk="0" hangingPunct="0">
              <a:lnSpc>
                <a:spcPct val="150000"/>
              </a:lnSpc>
              <a:spcBef>
                <a:spcPct val="0"/>
              </a:spcBef>
              <a:spcAft>
                <a:spcPct val="0"/>
              </a:spcAft>
              <a:buClrTx/>
              <a:buSzTx/>
              <a:buFontTx/>
              <a:buAutoNum type="arabicPeriod" startAt="4"/>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Scalability Issues </a:t>
            </a:r>
          </a:p>
          <a:p>
            <a:pPr marL="0" marR="0" lvl="0" indent="0" algn="just" defTabSz="914400" rtl="0" eaLnBrk="0" fontAlgn="base" latinLnBrk="0" hangingPunct="0">
              <a:lnSpc>
                <a:spcPct val="150000"/>
              </a:lnSpc>
              <a:spcBef>
                <a:spcPct val="0"/>
              </a:spcBef>
              <a:spcAft>
                <a:spcPct val="0"/>
              </a:spcAft>
              <a:buClrTx/>
              <a:buSzTx/>
              <a:buFontTx/>
              <a:buAutoNum type="arabicPeriod" startAt="5"/>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Lack of Integration </a:t>
            </a:r>
          </a:p>
          <a:p>
            <a:pPr marL="0" marR="0" lvl="0" indent="0" algn="just" defTabSz="914400" rtl="0" eaLnBrk="0" fontAlgn="base" latinLnBrk="0" hangingPunct="0">
              <a:lnSpc>
                <a:spcPct val="150000"/>
              </a:lnSpc>
              <a:spcBef>
                <a:spcPct val="0"/>
              </a:spcBef>
              <a:spcAft>
                <a:spcPct val="0"/>
              </a:spcAft>
              <a:buClrTx/>
              <a:buSzTx/>
              <a:buFontTx/>
              <a:buAutoNum type="arabicPeriod" startAt="6"/>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Bias in Predictions </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74797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3052" y="157318"/>
            <a:ext cx="10515600" cy="1325563"/>
          </a:xfrm>
        </p:spPr>
        <p:txBody>
          <a:bodyPr>
            <a:normAutofit/>
          </a:bodyPr>
          <a:lstStyle/>
          <a:p>
            <a:pPr algn="ctr"/>
            <a:r>
              <a:rPr lang="en-US" b="1" dirty="0" smtClean="0">
                <a:latin typeface="Times New Roman" panose="02020603050405020304" pitchFamily="18" charset="0"/>
                <a:cs typeface="Times New Roman" panose="02020603050405020304" pitchFamily="18" charset="0"/>
              </a:rPr>
              <a:t>PROPOSED SYSTEM</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1"/>
          <p:cNvSpPr>
            <a:spLocks noGrp="1" noChangeArrowheads="1"/>
          </p:cNvSpPr>
          <p:nvPr>
            <p:ph idx="1"/>
          </p:nvPr>
        </p:nvSpPr>
        <p:spPr bwMode="auto">
          <a:xfrm>
            <a:off x="441325" y="2171169"/>
            <a:ext cx="11268075"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proposed system aims to enhance the prediction of wine quality and price by utilizing advanced machine learning algorithms like Random Forests and Gradient Boosting Machines (GBM), which can better handle complex relationships within large, high-dimensional datasets. By integrating diverse data sources, including chemical properties, wine quality ratings, and up-to-date market prices from auctions and retailers, the system provides more accurate and generalized predictions. The inclusion of sophisticated preprocessing techniques, such as feature engineering, scaling, and handling missing values, further improves the model's robustness. Additionally, the system’s ability to evaluate performance through metrics like MAE, MSE, RMSE, and R² ensures that the predictions are reliable and actionable across various wine markets.</a:t>
            </a:r>
          </a:p>
        </p:txBody>
      </p:sp>
    </p:spTree>
    <p:extLst>
      <p:ext uri="{BB962C8B-B14F-4D97-AF65-F5344CB8AC3E}">
        <p14:creationId xmlns:p14="http://schemas.microsoft.com/office/powerpoint/2010/main" val="6146042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ADVANTAGES</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ectangle 1"/>
          <p:cNvSpPr>
            <a:spLocks noGrp="1" noChangeArrowheads="1"/>
          </p:cNvSpPr>
          <p:nvPr>
            <p:ph idx="1"/>
          </p:nvPr>
        </p:nvSpPr>
        <p:spPr bwMode="auto">
          <a:xfrm>
            <a:off x="1411288" y="2045757"/>
            <a:ext cx="3429144"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AutoNum type="arabicPeriod"/>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Improved Accuracy </a:t>
            </a:r>
          </a:p>
          <a:p>
            <a:pPr marL="0" marR="0" lvl="0" indent="0" algn="just" defTabSz="914400" rtl="0" eaLnBrk="0" fontAlgn="base" latinLnBrk="0" hangingPunct="0">
              <a:lnSpc>
                <a:spcPct val="150000"/>
              </a:lnSpc>
              <a:spcBef>
                <a:spcPct val="0"/>
              </a:spcBef>
              <a:spcAft>
                <a:spcPct val="0"/>
              </a:spcAft>
              <a:buClrTx/>
              <a:buSzTx/>
              <a:buFontTx/>
              <a:buAutoNum type="arabicPeriod" startAt="2"/>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Better Generalization </a:t>
            </a:r>
          </a:p>
          <a:p>
            <a:pPr marL="0" marR="0" lvl="0" indent="0" algn="just" defTabSz="914400" rtl="0" eaLnBrk="0" fontAlgn="base" latinLnBrk="0" hangingPunct="0">
              <a:lnSpc>
                <a:spcPct val="150000"/>
              </a:lnSpc>
              <a:spcBef>
                <a:spcPct val="0"/>
              </a:spcBef>
              <a:spcAft>
                <a:spcPct val="0"/>
              </a:spcAft>
              <a:buClrTx/>
              <a:buSzTx/>
              <a:buFontTx/>
              <a:buAutoNum type="arabicPeriod" startAt="3"/>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Comprehensive Data Integration </a:t>
            </a:r>
          </a:p>
          <a:p>
            <a:pPr marL="0" marR="0" lvl="0" indent="0" algn="just" defTabSz="914400" rtl="0" eaLnBrk="0" fontAlgn="base" latinLnBrk="0" hangingPunct="0">
              <a:lnSpc>
                <a:spcPct val="150000"/>
              </a:lnSpc>
              <a:spcBef>
                <a:spcPct val="0"/>
              </a:spcBef>
              <a:spcAft>
                <a:spcPct val="0"/>
              </a:spcAft>
              <a:buClrTx/>
              <a:buSzTx/>
              <a:buFontTx/>
              <a:buAutoNum type="arabicPeriod" startAt="4"/>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Scalability </a:t>
            </a:r>
          </a:p>
          <a:p>
            <a:pPr marL="0" marR="0" lvl="0" indent="0" algn="just" defTabSz="914400" rtl="0" eaLnBrk="0" fontAlgn="base" latinLnBrk="0" hangingPunct="0">
              <a:lnSpc>
                <a:spcPct val="150000"/>
              </a:lnSpc>
              <a:spcBef>
                <a:spcPct val="0"/>
              </a:spcBef>
              <a:spcAft>
                <a:spcPct val="0"/>
              </a:spcAft>
              <a:buClrTx/>
              <a:buSzTx/>
              <a:buFontTx/>
              <a:buAutoNum type="arabicPeriod" startAt="5"/>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Robust Preprocessing </a:t>
            </a:r>
          </a:p>
          <a:p>
            <a:pPr marL="0" marR="0" lvl="0" indent="0" algn="just" defTabSz="914400" rtl="0" eaLnBrk="0" fontAlgn="base" latinLnBrk="0" hangingPunct="0">
              <a:lnSpc>
                <a:spcPct val="150000"/>
              </a:lnSpc>
              <a:spcBef>
                <a:spcPct val="0"/>
              </a:spcBef>
              <a:spcAft>
                <a:spcPct val="0"/>
              </a:spcAft>
              <a:buClrTx/>
              <a:buSzTx/>
              <a:buFontTx/>
              <a:buAutoNum type="arabicPeriod" startAt="6"/>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Actionable Insights </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026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2963" y="0"/>
            <a:ext cx="10515600" cy="1330078"/>
          </a:xfrm>
        </p:spPr>
        <p:txBody>
          <a:bodyPr>
            <a:normAutofit/>
          </a:bodyPr>
          <a:lstStyle/>
          <a:p>
            <a:pPr algn="ctr"/>
            <a:r>
              <a:rPr lang="en-IN" sz="3200" b="1" dirty="0">
                <a:latin typeface="Times New Roman" panose="02020603050405020304" pitchFamily="18" charset="0"/>
                <a:cs typeface="Times New Roman" panose="02020603050405020304" pitchFamily="18" charset="0"/>
              </a:rPr>
              <a:t> SYSTEM ARCHITECTURE</a:t>
            </a:r>
            <a:endParaRPr lang="en-IN" sz="2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5" name="Picture 4"/>
          <p:cNvPicPr>
            <a:picLocks noChangeAspect="1"/>
          </p:cNvPicPr>
          <p:nvPr/>
        </p:nvPicPr>
        <p:blipFill>
          <a:blip r:embed="rId2"/>
          <a:stretch>
            <a:fillRect/>
          </a:stretch>
        </p:blipFill>
        <p:spPr>
          <a:xfrm>
            <a:off x="648393" y="1838498"/>
            <a:ext cx="615142" cy="615142"/>
          </a:xfrm>
          <a:prstGeom prst="rect">
            <a:avLst/>
          </a:prstGeom>
        </p:spPr>
      </p:pic>
      <p:sp>
        <p:nvSpPr>
          <p:cNvPr id="6" name="Rectangle 5"/>
          <p:cNvSpPr/>
          <p:nvPr/>
        </p:nvSpPr>
        <p:spPr>
          <a:xfrm>
            <a:off x="498764" y="2416784"/>
            <a:ext cx="1147155" cy="369332"/>
          </a:xfrm>
          <a:prstGeom prst="rect">
            <a:avLst/>
          </a:prstGeom>
        </p:spPr>
        <p:txBody>
          <a:bodyPr wrap="square">
            <a:spAutoFit/>
          </a:bodyPr>
          <a:lstStyle/>
          <a:p>
            <a:r>
              <a:rPr lang="en-US" dirty="0" smtClean="0">
                <a:latin typeface="Times New Roman" panose="02020603050405020304" pitchFamily="18" charset="0"/>
                <a:cs typeface="Times New Roman" panose="02020603050405020304" pitchFamily="18" charset="0"/>
              </a:rPr>
              <a:t>Dataset</a:t>
            </a:r>
            <a:endParaRPr lang="en-IN" dirty="0"/>
          </a:p>
        </p:txBody>
      </p:sp>
      <p:pic>
        <p:nvPicPr>
          <p:cNvPr id="7" name="Picture 6"/>
          <p:cNvPicPr>
            <a:picLocks noChangeAspect="1"/>
          </p:cNvPicPr>
          <p:nvPr/>
        </p:nvPicPr>
        <p:blipFill>
          <a:blip r:embed="rId3"/>
          <a:stretch>
            <a:fillRect/>
          </a:stretch>
        </p:blipFill>
        <p:spPr>
          <a:xfrm>
            <a:off x="2227808" y="1538806"/>
            <a:ext cx="1130531" cy="1130531"/>
          </a:xfrm>
          <a:prstGeom prst="rect">
            <a:avLst/>
          </a:prstGeom>
        </p:spPr>
      </p:pic>
      <p:sp>
        <p:nvSpPr>
          <p:cNvPr id="8" name="Rectangle 7"/>
          <p:cNvSpPr/>
          <p:nvPr/>
        </p:nvSpPr>
        <p:spPr>
          <a:xfrm>
            <a:off x="2161303" y="2453640"/>
            <a:ext cx="1409232" cy="369332"/>
          </a:xfrm>
          <a:prstGeom prst="rect">
            <a:avLst/>
          </a:prstGeom>
        </p:spPr>
        <p:txBody>
          <a:bodyPr wrap="none">
            <a:spAutoFit/>
          </a:bodyPr>
          <a:lstStyle/>
          <a:p>
            <a:r>
              <a:rPr lang="en-IN" dirty="0" smtClean="0"/>
              <a:t>Data Loading</a:t>
            </a:r>
            <a:endParaRPr lang="en-IN" dirty="0"/>
          </a:p>
        </p:txBody>
      </p:sp>
      <p:pic>
        <p:nvPicPr>
          <p:cNvPr id="9" name="Picture 8"/>
          <p:cNvPicPr>
            <a:picLocks noChangeAspect="1"/>
          </p:cNvPicPr>
          <p:nvPr/>
        </p:nvPicPr>
        <p:blipFill>
          <a:blip r:embed="rId4"/>
          <a:stretch>
            <a:fillRect/>
          </a:stretch>
        </p:blipFill>
        <p:spPr>
          <a:xfrm>
            <a:off x="4637806" y="1721685"/>
            <a:ext cx="764771" cy="764771"/>
          </a:xfrm>
          <a:prstGeom prst="rect">
            <a:avLst/>
          </a:prstGeom>
        </p:spPr>
      </p:pic>
      <p:sp>
        <p:nvSpPr>
          <p:cNvPr id="10" name="Rectangle 9"/>
          <p:cNvSpPr/>
          <p:nvPr/>
        </p:nvSpPr>
        <p:spPr>
          <a:xfrm>
            <a:off x="4081979" y="2453640"/>
            <a:ext cx="2051716" cy="369332"/>
          </a:xfrm>
          <a:prstGeom prst="rect">
            <a:avLst/>
          </a:prstGeom>
        </p:spPr>
        <p:txBody>
          <a:bodyPr wrap="none">
            <a:spAutoFit/>
          </a:bodyPr>
          <a:lstStyle/>
          <a:p>
            <a:r>
              <a:rPr lang="en-IN" dirty="0"/>
              <a:t>Data </a:t>
            </a:r>
            <a:r>
              <a:rPr lang="en-IN" dirty="0" smtClean="0"/>
              <a:t>Pre-processing</a:t>
            </a:r>
            <a:endParaRPr lang="en-IN" dirty="0"/>
          </a:p>
        </p:txBody>
      </p:sp>
      <p:pic>
        <p:nvPicPr>
          <p:cNvPr id="11" name="Picture 10"/>
          <p:cNvPicPr>
            <a:picLocks noChangeAspect="1"/>
          </p:cNvPicPr>
          <p:nvPr/>
        </p:nvPicPr>
        <p:blipFill>
          <a:blip r:embed="rId5"/>
          <a:stretch>
            <a:fillRect/>
          </a:stretch>
        </p:blipFill>
        <p:spPr>
          <a:xfrm>
            <a:off x="7789936" y="1478358"/>
            <a:ext cx="938426" cy="938426"/>
          </a:xfrm>
          <a:prstGeom prst="rect">
            <a:avLst/>
          </a:prstGeom>
        </p:spPr>
      </p:pic>
      <p:sp>
        <p:nvSpPr>
          <p:cNvPr id="12" name="Rectangle 11"/>
          <p:cNvSpPr/>
          <p:nvPr/>
        </p:nvSpPr>
        <p:spPr>
          <a:xfrm>
            <a:off x="7538535" y="2477710"/>
            <a:ext cx="1441228" cy="369332"/>
          </a:xfrm>
          <a:prstGeom prst="rect">
            <a:avLst/>
          </a:prstGeom>
        </p:spPr>
        <p:txBody>
          <a:bodyPr wrap="none">
            <a:spAutoFit/>
          </a:bodyPr>
          <a:lstStyle/>
          <a:p>
            <a:r>
              <a:rPr lang="en-US" dirty="0" smtClean="0"/>
              <a:t>Data Splitting</a:t>
            </a:r>
            <a:endParaRPr lang="en-IN" dirty="0"/>
          </a:p>
        </p:txBody>
      </p:sp>
      <p:pic>
        <p:nvPicPr>
          <p:cNvPr id="13" name="Picture 12"/>
          <p:cNvPicPr>
            <a:picLocks noChangeAspect="1"/>
          </p:cNvPicPr>
          <p:nvPr/>
        </p:nvPicPr>
        <p:blipFill>
          <a:blip r:embed="rId6"/>
          <a:stretch>
            <a:fillRect/>
          </a:stretch>
        </p:blipFill>
        <p:spPr>
          <a:xfrm>
            <a:off x="10380194" y="1161852"/>
            <a:ext cx="735527" cy="735527"/>
          </a:xfrm>
          <a:prstGeom prst="rect">
            <a:avLst/>
          </a:prstGeom>
        </p:spPr>
      </p:pic>
      <p:pic>
        <p:nvPicPr>
          <p:cNvPr id="14" name="Picture 13"/>
          <p:cNvPicPr>
            <a:picLocks noChangeAspect="1"/>
          </p:cNvPicPr>
          <p:nvPr/>
        </p:nvPicPr>
        <p:blipFill>
          <a:blip r:embed="rId7"/>
          <a:stretch>
            <a:fillRect/>
          </a:stretch>
        </p:blipFill>
        <p:spPr>
          <a:xfrm>
            <a:off x="10378809" y="2029256"/>
            <a:ext cx="914400" cy="914400"/>
          </a:xfrm>
          <a:prstGeom prst="rect">
            <a:avLst/>
          </a:prstGeom>
        </p:spPr>
      </p:pic>
      <p:pic>
        <p:nvPicPr>
          <p:cNvPr id="15" name="Picture 14"/>
          <p:cNvPicPr>
            <a:picLocks noChangeAspect="1"/>
          </p:cNvPicPr>
          <p:nvPr/>
        </p:nvPicPr>
        <p:blipFill>
          <a:blip r:embed="rId8"/>
          <a:stretch>
            <a:fillRect/>
          </a:stretch>
        </p:blipFill>
        <p:spPr>
          <a:xfrm>
            <a:off x="7861482" y="4110261"/>
            <a:ext cx="798022" cy="798022"/>
          </a:xfrm>
          <a:prstGeom prst="rect">
            <a:avLst/>
          </a:prstGeom>
        </p:spPr>
      </p:pic>
      <p:sp>
        <p:nvSpPr>
          <p:cNvPr id="16" name="Rectangle 15"/>
          <p:cNvSpPr/>
          <p:nvPr/>
        </p:nvSpPr>
        <p:spPr>
          <a:xfrm>
            <a:off x="7773984" y="5073535"/>
            <a:ext cx="1205779" cy="369332"/>
          </a:xfrm>
          <a:prstGeom prst="rect">
            <a:avLst/>
          </a:prstGeom>
        </p:spPr>
        <p:txBody>
          <a:bodyPr wrap="none">
            <a:spAutoFit/>
          </a:bodyPr>
          <a:lstStyle/>
          <a:p>
            <a:r>
              <a:rPr lang="en-US" dirty="0" smtClean="0"/>
              <a:t>Algorithms</a:t>
            </a:r>
            <a:endParaRPr lang="en-IN" dirty="0"/>
          </a:p>
        </p:txBody>
      </p:sp>
      <p:pic>
        <p:nvPicPr>
          <p:cNvPr id="17" name="Picture 16"/>
          <p:cNvPicPr>
            <a:picLocks noChangeAspect="1"/>
          </p:cNvPicPr>
          <p:nvPr/>
        </p:nvPicPr>
        <p:blipFill>
          <a:blip r:embed="rId9"/>
          <a:stretch>
            <a:fillRect/>
          </a:stretch>
        </p:blipFill>
        <p:spPr>
          <a:xfrm>
            <a:off x="10491496" y="4123599"/>
            <a:ext cx="801713" cy="801713"/>
          </a:xfrm>
          <a:prstGeom prst="rect">
            <a:avLst/>
          </a:prstGeom>
        </p:spPr>
      </p:pic>
      <p:sp>
        <p:nvSpPr>
          <p:cNvPr id="18" name="Rectangle 17"/>
          <p:cNvSpPr/>
          <p:nvPr/>
        </p:nvSpPr>
        <p:spPr>
          <a:xfrm>
            <a:off x="10344988" y="5073535"/>
            <a:ext cx="1215910" cy="369332"/>
          </a:xfrm>
          <a:prstGeom prst="rect">
            <a:avLst/>
          </a:prstGeom>
        </p:spPr>
        <p:txBody>
          <a:bodyPr wrap="none">
            <a:spAutoFit/>
          </a:bodyPr>
          <a:lstStyle/>
          <a:p>
            <a:r>
              <a:rPr lang="en-US" dirty="0" smtClean="0"/>
              <a:t>Supervised</a:t>
            </a:r>
            <a:endParaRPr lang="en-IN" dirty="0"/>
          </a:p>
        </p:txBody>
      </p:sp>
      <p:pic>
        <p:nvPicPr>
          <p:cNvPr id="19" name="Picture 18"/>
          <p:cNvPicPr>
            <a:picLocks noChangeAspect="1"/>
          </p:cNvPicPr>
          <p:nvPr/>
        </p:nvPicPr>
        <p:blipFill>
          <a:blip r:embed="rId10"/>
          <a:stretch>
            <a:fillRect/>
          </a:stretch>
        </p:blipFill>
        <p:spPr>
          <a:xfrm>
            <a:off x="5001720" y="4106570"/>
            <a:ext cx="801713" cy="801713"/>
          </a:xfrm>
          <a:prstGeom prst="rect">
            <a:avLst/>
          </a:prstGeom>
        </p:spPr>
      </p:pic>
      <p:sp>
        <p:nvSpPr>
          <p:cNvPr id="20" name="Rectangle 19"/>
          <p:cNvSpPr/>
          <p:nvPr/>
        </p:nvSpPr>
        <p:spPr>
          <a:xfrm>
            <a:off x="4507836" y="5073535"/>
            <a:ext cx="2153666" cy="369332"/>
          </a:xfrm>
          <a:prstGeom prst="rect">
            <a:avLst/>
          </a:prstGeom>
        </p:spPr>
        <p:txBody>
          <a:bodyPr wrap="none">
            <a:spAutoFit/>
          </a:bodyPr>
          <a:lstStyle/>
          <a:p>
            <a:r>
              <a:rPr lang="en-US" dirty="0" smtClean="0"/>
              <a:t>Performance Metrics</a:t>
            </a:r>
            <a:endParaRPr lang="en-IN" dirty="0"/>
          </a:p>
        </p:txBody>
      </p:sp>
      <p:pic>
        <p:nvPicPr>
          <p:cNvPr id="21" name="Picture 20"/>
          <p:cNvPicPr>
            <a:picLocks noChangeAspect="1"/>
          </p:cNvPicPr>
          <p:nvPr/>
        </p:nvPicPr>
        <p:blipFill>
          <a:blip r:embed="rId11"/>
          <a:stretch>
            <a:fillRect/>
          </a:stretch>
        </p:blipFill>
        <p:spPr>
          <a:xfrm>
            <a:off x="2601094" y="4067254"/>
            <a:ext cx="914401" cy="914401"/>
          </a:xfrm>
          <a:prstGeom prst="rect">
            <a:avLst/>
          </a:prstGeom>
        </p:spPr>
      </p:pic>
      <p:sp>
        <p:nvSpPr>
          <p:cNvPr id="22" name="Rectangle 21"/>
          <p:cNvSpPr/>
          <p:nvPr/>
        </p:nvSpPr>
        <p:spPr>
          <a:xfrm>
            <a:off x="2335917" y="5073535"/>
            <a:ext cx="1141851" cy="369332"/>
          </a:xfrm>
          <a:prstGeom prst="rect">
            <a:avLst/>
          </a:prstGeom>
        </p:spPr>
        <p:txBody>
          <a:bodyPr wrap="none">
            <a:spAutoFit/>
          </a:bodyPr>
          <a:lstStyle/>
          <a:p>
            <a:r>
              <a:rPr lang="en-US" dirty="0" smtClean="0"/>
              <a:t>Prediction</a:t>
            </a:r>
            <a:endParaRPr lang="en-IN" dirty="0"/>
          </a:p>
        </p:txBody>
      </p:sp>
      <p:pic>
        <p:nvPicPr>
          <p:cNvPr id="23" name="Picture 22"/>
          <p:cNvPicPr>
            <a:picLocks noChangeAspect="1"/>
          </p:cNvPicPr>
          <p:nvPr/>
        </p:nvPicPr>
        <p:blipFill>
          <a:blip r:embed="rId12"/>
          <a:stretch>
            <a:fillRect/>
          </a:stretch>
        </p:blipFill>
        <p:spPr>
          <a:xfrm>
            <a:off x="385639" y="3954129"/>
            <a:ext cx="1140650" cy="1140650"/>
          </a:xfrm>
          <a:prstGeom prst="rect">
            <a:avLst/>
          </a:prstGeom>
        </p:spPr>
      </p:pic>
      <p:cxnSp>
        <p:nvCxnSpPr>
          <p:cNvPr id="24" name="Straight Arrow Connector 23"/>
          <p:cNvCxnSpPr/>
          <p:nvPr/>
        </p:nvCxnSpPr>
        <p:spPr>
          <a:xfrm>
            <a:off x="1526289" y="2146069"/>
            <a:ext cx="8096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3"/>
          </p:cNvCxnSpPr>
          <p:nvPr/>
        </p:nvCxnSpPr>
        <p:spPr>
          <a:xfrm flipV="1">
            <a:off x="5402577" y="2104070"/>
            <a:ext cx="237140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7" idx="3"/>
            <a:endCxn id="9" idx="1"/>
          </p:cNvCxnSpPr>
          <p:nvPr/>
        </p:nvCxnSpPr>
        <p:spPr>
          <a:xfrm flipV="1">
            <a:off x="3358339" y="2104071"/>
            <a:ext cx="127946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8728362" y="1529615"/>
            <a:ext cx="1463042" cy="5434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8728362" y="2104070"/>
            <a:ext cx="1463042" cy="2486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endCxn id="15" idx="0"/>
          </p:cNvCxnSpPr>
          <p:nvPr/>
        </p:nvCxnSpPr>
        <p:spPr>
          <a:xfrm>
            <a:off x="8259149" y="3061974"/>
            <a:ext cx="1344" cy="10482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8728362" y="4507426"/>
            <a:ext cx="16166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5" idx="1"/>
            <a:endCxn id="19" idx="3"/>
          </p:cNvCxnSpPr>
          <p:nvPr/>
        </p:nvCxnSpPr>
        <p:spPr>
          <a:xfrm flipH="1" flipV="1">
            <a:off x="5803433" y="4507427"/>
            <a:ext cx="2058049" cy="1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H="1">
            <a:off x="3515495" y="4643277"/>
            <a:ext cx="1332168" cy="168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H="1">
            <a:off x="1397608" y="4737019"/>
            <a:ext cx="11346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38233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2963" y="32274"/>
            <a:ext cx="10515600" cy="1325563"/>
          </a:xfrm>
        </p:spPr>
        <p:txBody>
          <a:bodyPr>
            <a:normAutofit/>
          </a:bodyPr>
          <a:lstStyle/>
          <a:p>
            <a:pPr algn="ctr"/>
            <a:r>
              <a:rPr lang="en-IN" sz="3200" b="1" dirty="0" smtClean="0">
                <a:latin typeface="Times New Roman" panose="02020603050405020304" pitchFamily="18" charset="0"/>
                <a:cs typeface="Times New Roman" panose="02020603050405020304" pitchFamily="18" charset="0"/>
              </a:rPr>
              <a:t>FLOW DIAGRAM</a:t>
            </a:r>
            <a:endParaRPr lang="en-IN" sz="32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3" name="Rectangle 19"/>
          <p:cNvSpPr>
            <a:spLocks noChangeArrowheads="1"/>
          </p:cNvSpPr>
          <p:nvPr/>
        </p:nvSpPr>
        <p:spPr bwMode="auto">
          <a:xfrm>
            <a:off x="2202287" y="-262729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4" name="Rectangle 27"/>
          <p:cNvSpPr>
            <a:spLocks noChangeArrowheads="1"/>
          </p:cNvSpPr>
          <p:nvPr/>
        </p:nvSpPr>
        <p:spPr bwMode="auto">
          <a:xfrm>
            <a:off x="4031087" y="-217009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32" name="Group 31"/>
          <p:cNvGrpSpPr/>
          <p:nvPr/>
        </p:nvGrpSpPr>
        <p:grpSpPr>
          <a:xfrm>
            <a:off x="1170402" y="1183823"/>
            <a:ext cx="7638162" cy="5228604"/>
            <a:chOff x="23534" y="0"/>
            <a:chExt cx="7639221" cy="5229002"/>
          </a:xfrm>
        </p:grpSpPr>
        <p:sp>
          <p:nvSpPr>
            <p:cNvPr id="33" name="Oval 32"/>
            <p:cNvSpPr/>
            <p:nvPr/>
          </p:nvSpPr>
          <p:spPr>
            <a:xfrm>
              <a:off x="23537" y="0"/>
              <a:ext cx="3271101" cy="537572"/>
            </a:xfrm>
            <a:prstGeom prst="ellipse">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Start</a:t>
              </a:r>
              <a:endParaRPr lang="en-IN" dirty="0">
                <a:effectLst/>
                <a:latin typeface="Times New Roman" panose="02020603050405020304" pitchFamily="18" charset="0"/>
                <a:ea typeface="Times New Roman" panose="02020603050405020304" pitchFamily="18" charset="0"/>
              </a:endParaRPr>
            </a:p>
          </p:txBody>
        </p:sp>
        <p:sp>
          <p:nvSpPr>
            <p:cNvPr id="34" name="Rectangle 33"/>
            <p:cNvSpPr/>
            <p:nvPr/>
          </p:nvSpPr>
          <p:spPr>
            <a:xfrm>
              <a:off x="23537" y="991522"/>
              <a:ext cx="3271104" cy="561465"/>
            </a:xfrm>
            <a:prstGeom prst="rect">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Data Loading</a:t>
              </a:r>
              <a:endParaRPr lang="en-IN" sz="1600" dirty="0">
                <a:effectLst/>
                <a:latin typeface="Times New Roman" panose="02020603050405020304" pitchFamily="18" charset="0"/>
                <a:ea typeface="Times New Roman" panose="02020603050405020304" pitchFamily="18" charset="0"/>
              </a:endParaRPr>
            </a:p>
          </p:txBody>
        </p:sp>
        <p:sp>
          <p:nvSpPr>
            <p:cNvPr id="35" name="Rectangle 34"/>
            <p:cNvSpPr/>
            <p:nvPr/>
          </p:nvSpPr>
          <p:spPr>
            <a:xfrm>
              <a:off x="4391651" y="1926481"/>
              <a:ext cx="3271104" cy="561465"/>
            </a:xfrm>
            <a:prstGeom prst="rect">
              <a:avLst/>
            </a:prstGeom>
            <a:solidFill>
              <a:schemeClr val="accent1">
                <a:lumMod val="40000"/>
                <a:lumOff val="6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Preprocessing</a:t>
              </a:r>
              <a:endParaRPr lang="en-IN" sz="1600" dirty="0">
                <a:effectLst/>
                <a:latin typeface="Times New Roman" panose="02020603050405020304" pitchFamily="18" charset="0"/>
                <a:ea typeface="Times New Roman" panose="02020603050405020304" pitchFamily="18" charset="0"/>
              </a:endParaRPr>
            </a:p>
          </p:txBody>
        </p:sp>
        <p:sp>
          <p:nvSpPr>
            <p:cNvPr id="36" name="Down Arrow 35"/>
            <p:cNvSpPr/>
            <p:nvPr/>
          </p:nvSpPr>
          <p:spPr>
            <a:xfrm>
              <a:off x="1388458" y="537572"/>
              <a:ext cx="541263" cy="453950"/>
            </a:xfrm>
            <a:prstGeom prst="downArrow">
              <a:avLst/>
            </a:prstGeom>
            <a:solidFill>
              <a:schemeClr val="accent1">
                <a:lumMod val="5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37" name="Down Arrow 36"/>
            <p:cNvSpPr/>
            <p:nvPr/>
          </p:nvSpPr>
          <p:spPr>
            <a:xfrm>
              <a:off x="5686157" y="1565830"/>
              <a:ext cx="541263" cy="336479"/>
            </a:xfrm>
            <a:prstGeom prst="downArrow">
              <a:avLst/>
            </a:prstGeom>
            <a:solidFill>
              <a:schemeClr val="accent1">
                <a:lumMod val="5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38" name="Down Arrow 37"/>
            <p:cNvSpPr/>
            <p:nvPr/>
          </p:nvSpPr>
          <p:spPr>
            <a:xfrm>
              <a:off x="1364923" y="2438129"/>
              <a:ext cx="541263" cy="362740"/>
            </a:xfrm>
            <a:prstGeom prst="downArrow">
              <a:avLst/>
            </a:prstGeom>
            <a:solidFill>
              <a:schemeClr val="accent1">
                <a:lumMod val="5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39" name="Rectangle 38"/>
            <p:cNvSpPr/>
            <p:nvPr/>
          </p:nvSpPr>
          <p:spPr>
            <a:xfrm>
              <a:off x="23534" y="2815288"/>
              <a:ext cx="3271104" cy="561465"/>
            </a:xfrm>
            <a:prstGeom prst="rect">
              <a:avLst/>
            </a:prstGeom>
            <a:solidFill>
              <a:schemeClr val="accent1">
                <a:lumMod val="20000"/>
                <a:lumOff val="8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Splitting</a:t>
              </a:r>
              <a:endParaRPr lang="en-IN" dirty="0">
                <a:effectLst/>
                <a:latin typeface="Times New Roman" panose="02020603050405020304" pitchFamily="18" charset="0"/>
                <a:ea typeface="Times New Roman" panose="02020603050405020304" pitchFamily="18" charset="0"/>
              </a:endParaRPr>
            </a:p>
          </p:txBody>
        </p:sp>
        <p:sp>
          <p:nvSpPr>
            <p:cNvPr id="40" name="Rectangle 39"/>
            <p:cNvSpPr/>
            <p:nvPr/>
          </p:nvSpPr>
          <p:spPr>
            <a:xfrm>
              <a:off x="4321236" y="3739526"/>
              <a:ext cx="3271104" cy="561465"/>
            </a:xfrm>
            <a:prstGeom prst="rect">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Applying Algorithm</a:t>
              </a:r>
              <a:endParaRPr lang="en-IN" sz="1600" dirty="0">
                <a:effectLst/>
                <a:latin typeface="Times New Roman" panose="02020603050405020304" pitchFamily="18" charset="0"/>
                <a:ea typeface="Times New Roman" panose="02020603050405020304" pitchFamily="18" charset="0"/>
              </a:endParaRPr>
            </a:p>
          </p:txBody>
        </p:sp>
        <p:sp>
          <p:nvSpPr>
            <p:cNvPr id="41" name="Down Arrow 40"/>
            <p:cNvSpPr/>
            <p:nvPr/>
          </p:nvSpPr>
          <p:spPr>
            <a:xfrm>
              <a:off x="5725161" y="3376753"/>
              <a:ext cx="541263" cy="336479"/>
            </a:xfrm>
            <a:prstGeom prst="downArrow">
              <a:avLst/>
            </a:prstGeom>
            <a:solidFill>
              <a:schemeClr val="accent1">
                <a:lumMod val="5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42" name="Down Arrow 41"/>
            <p:cNvSpPr/>
            <p:nvPr/>
          </p:nvSpPr>
          <p:spPr>
            <a:xfrm>
              <a:off x="5725161" y="4315470"/>
              <a:ext cx="541263" cy="336479"/>
            </a:xfrm>
            <a:prstGeom prst="downArrow">
              <a:avLst/>
            </a:prstGeom>
            <a:solidFill>
              <a:schemeClr val="accent1">
                <a:lumMod val="5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43" name="Rectangle 42"/>
            <p:cNvSpPr/>
            <p:nvPr/>
          </p:nvSpPr>
          <p:spPr>
            <a:xfrm>
              <a:off x="4250598" y="4667537"/>
              <a:ext cx="3271104" cy="561465"/>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IN" sz="1600" kern="12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Prediction</a:t>
              </a:r>
              <a:endParaRPr lang="en-IN" sz="1600" dirty="0">
                <a:effectLst/>
                <a:latin typeface="Times New Roman" panose="02020603050405020304" pitchFamily="18" charset="0"/>
                <a:ea typeface="Times New Roman" panose="02020603050405020304" pitchFamily="18" charset="0"/>
              </a:endParaRPr>
            </a:p>
          </p:txBody>
        </p:sp>
      </p:grpSp>
      <p:sp>
        <p:nvSpPr>
          <p:cNvPr id="5" name="Right Arrow 4"/>
          <p:cNvSpPr/>
          <p:nvPr/>
        </p:nvSpPr>
        <p:spPr>
          <a:xfrm>
            <a:off x="8660300" y="5859533"/>
            <a:ext cx="816156" cy="561422"/>
          </a:xfrm>
          <a:prstGeom prst="rightArrow">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p:cNvSpPr/>
          <p:nvPr/>
        </p:nvSpPr>
        <p:spPr>
          <a:xfrm>
            <a:off x="9476456" y="5828260"/>
            <a:ext cx="2394595" cy="623968"/>
          </a:xfrm>
          <a:prstGeom prst="ellipse">
            <a:avLst/>
          </a:prstGeom>
          <a:solidFill>
            <a:schemeClr val="accent1">
              <a:lumMod val="75000"/>
            </a:schemeClr>
          </a:solidFill>
          <a:ln>
            <a:solidFill>
              <a:schemeClr val="accent1">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smtClean="0">
                <a:latin typeface="Times New Roman" panose="02020603050405020304" pitchFamily="18" charset="0"/>
                <a:cs typeface="Times New Roman" panose="02020603050405020304" pitchFamily="18" charset="0"/>
              </a:rPr>
              <a:t>End Project</a:t>
            </a:r>
            <a:endParaRPr lang="en-IN" sz="1600" dirty="0">
              <a:latin typeface="Times New Roman" panose="02020603050405020304" pitchFamily="18" charset="0"/>
              <a:cs typeface="Times New Roman" panose="02020603050405020304" pitchFamily="18" charset="0"/>
            </a:endParaRPr>
          </a:p>
        </p:txBody>
      </p:sp>
      <p:sp>
        <p:nvSpPr>
          <p:cNvPr id="7" name="Right Arrow 6"/>
          <p:cNvSpPr/>
          <p:nvPr/>
        </p:nvSpPr>
        <p:spPr>
          <a:xfrm>
            <a:off x="4441053" y="2188571"/>
            <a:ext cx="1096862" cy="560963"/>
          </a:xfrm>
          <a:prstGeom prst="rightArrow">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5537914" y="2175269"/>
            <a:ext cx="3072731" cy="574265"/>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1600" dirty="0" smtClean="0">
                <a:solidFill>
                  <a:schemeClr val="tx1"/>
                </a:solidFill>
                <a:latin typeface="Times New Roman" panose="02020603050405020304" pitchFamily="18" charset="0"/>
                <a:cs typeface="Times New Roman" panose="02020603050405020304" pitchFamily="18" charset="0"/>
              </a:rPr>
              <a:t>Dataset </a:t>
            </a:r>
            <a:endParaRPr lang="en-IN" sz="1600" dirty="0">
              <a:solidFill>
                <a:schemeClr val="tx1"/>
              </a:solidFill>
              <a:latin typeface="Times New Roman" panose="02020603050405020304" pitchFamily="18" charset="0"/>
              <a:cs typeface="Times New Roman" panose="02020603050405020304" pitchFamily="18" charset="0"/>
            </a:endParaRPr>
          </a:p>
        </p:txBody>
      </p:sp>
      <p:sp>
        <p:nvSpPr>
          <p:cNvPr id="9" name="Right Arrow 8"/>
          <p:cNvSpPr/>
          <p:nvPr/>
        </p:nvSpPr>
        <p:spPr>
          <a:xfrm flipH="1">
            <a:off x="4396210" y="3075378"/>
            <a:ext cx="1141702" cy="584832"/>
          </a:xfrm>
          <a:prstGeom prst="rightArrow">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1193841" y="2996681"/>
            <a:ext cx="3176717" cy="61000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r>
              <a:rPr lang="en-US" sz="1000" dirty="0">
                <a:solidFill>
                  <a:schemeClr val="tx1"/>
                </a:solidFill>
                <a:latin typeface="Times New Roman" panose="02020603050405020304" pitchFamily="18" charset="0"/>
                <a:cs typeface="Times New Roman" panose="02020603050405020304" pitchFamily="18" charset="0"/>
              </a:rPr>
              <a:t>Handling Missing </a:t>
            </a:r>
            <a:r>
              <a:rPr lang="en-US" sz="1000" dirty="0" smtClean="0">
                <a:solidFill>
                  <a:schemeClr val="tx1"/>
                </a:solidFill>
                <a:latin typeface="Times New Roman" panose="02020603050405020304" pitchFamily="18" charset="0"/>
                <a:cs typeface="Times New Roman" panose="02020603050405020304" pitchFamily="18" charset="0"/>
              </a:rPr>
              <a:t>Values</a:t>
            </a:r>
            <a:r>
              <a:rPr lang="en-IN" sz="1000" dirty="0">
                <a:solidFill>
                  <a:schemeClr val="tx1"/>
                </a:solidFill>
                <a:latin typeface="Times New Roman" panose="02020603050405020304" pitchFamily="18" charset="0"/>
                <a:cs typeface="Times New Roman" panose="02020603050405020304" pitchFamily="18" charset="0"/>
              </a:rPr>
              <a:t>,</a:t>
            </a:r>
            <a:r>
              <a:rPr lang="en-US" sz="1000" dirty="0" smtClean="0">
                <a:solidFill>
                  <a:schemeClr val="tx1"/>
                </a:solidFill>
                <a:latin typeface="Times New Roman" panose="02020603050405020304" pitchFamily="18" charset="0"/>
                <a:cs typeface="Times New Roman" panose="02020603050405020304" pitchFamily="18" charset="0"/>
              </a:rPr>
              <a:t>Feature </a:t>
            </a:r>
            <a:r>
              <a:rPr lang="en-US" sz="1000" dirty="0">
                <a:solidFill>
                  <a:schemeClr val="tx1"/>
                </a:solidFill>
                <a:latin typeface="Times New Roman" panose="02020603050405020304" pitchFamily="18" charset="0"/>
                <a:cs typeface="Times New Roman" panose="02020603050405020304" pitchFamily="18" charset="0"/>
              </a:rPr>
              <a:t>Scaling</a:t>
            </a:r>
            <a:endParaRPr lang="en-IN" sz="1000" dirty="0">
              <a:solidFill>
                <a:schemeClr val="tx1"/>
              </a:solidFill>
              <a:latin typeface="Times New Roman" panose="02020603050405020304" pitchFamily="18" charset="0"/>
              <a:cs typeface="Times New Roman" panose="02020603050405020304" pitchFamily="18" charset="0"/>
            </a:endParaRPr>
          </a:p>
          <a:p>
            <a:pPr lvl="0" algn="just"/>
            <a:r>
              <a:rPr lang="en-US" sz="1000" dirty="0">
                <a:solidFill>
                  <a:schemeClr val="tx1"/>
                </a:solidFill>
                <a:latin typeface="Times New Roman" panose="02020603050405020304" pitchFamily="18" charset="0"/>
                <a:cs typeface="Times New Roman" panose="02020603050405020304" pitchFamily="18" charset="0"/>
              </a:rPr>
              <a:t>Feature </a:t>
            </a:r>
            <a:r>
              <a:rPr lang="en-US" sz="1000" dirty="0" smtClean="0">
                <a:solidFill>
                  <a:schemeClr val="tx1"/>
                </a:solidFill>
                <a:latin typeface="Times New Roman" panose="02020603050405020304" pitchFamily="18" charset="0"/>
                <a:cs typeface="Times New Roman" panose="02020603050405020304" pitchFamily="18" charset="0"/>
              </a:rPr>
              <a:t>Engineering</a:t>
            </a:r>
            <a:r>
              <a:rPr lang="en-IN" sz="1000" dirty="0">
                <a:solidFill>
                  <a:schemeClr val="tx1"/>
                </a:solidFill>
                <a:latin typeface="Times New Roman" panose="02020603050405020304" pitchFamily="18" charset="0"/>
                <a:cs typeface="Times New Roman" panose="02020603050405020304" pitchFamily="18" charset="0"/>
              </a:rPr>
              <a:t>,</a:t>
            </a:r>
            <a:r>
              <a:rPr lang="en-US" sz="1000" dirty="0" smtClean="0">
                <a:solidFill>
                  <a:schemeClr val="tx1"/>
                </a:solidFill>
                <a:latin typeface="Times New Roman" panose="02020603050405020304" pitchFamily="18" charset="0"/>
                <a:cs typeface="Times New Roman" panose="02020603050405020304" pitchFamily="18" charset="0"/>
              </a:rPr>
              <a:t>Encoding </a:t>
            </a:r>
            <a:r>
              <a:rPr lang="en-US" sz="1000" dirty="0">
                <a:solidFill>
                  <a:schemeClr val="tx1"/>
                </a:solidFill>
                <a:latin typeface="Times New Roman" panose="02020603050405020304" pitchFamily="18" charset="0"/>
                <a:cs typeface="Times New Roman" panose="02020603050405020304" pitchFamily="18" charset="0"/>
              </a:rPr>
              <a:t>Categorical </a:t>
            </a:r>
            <a:r>
              <a:rPr lang="en-US" sz="1000" dirty="0" smtClean="0">
                <a:solidFill>
                  <a:schemeClr val="tx1"/>
                </a:solidFill>
                <a:latin typeface="Times New Roman" panose="02020603050405020304" pitchFamily="18" charset="0"/>
                <a:cs typeface="Times New Roman" panose="02020603050405020304" pitchFamily="18" charset="0"/>
              </a:rPr>
              <a:t>Variables,</a:t>
            </a:r>
            <a:endParaRPr lang="en-IN" sz="1000" dirty="0">
              <a:solidFill>
                <a:schemeClr val="tx1"/>
              </a:solidFill>
              <a:latin typeface="Times New Roman" panose="02020603050405020304" pitchFamily="18" charset="0"/>
              <a:cs typeface="Times New Roman" panose="02020603050405020304" pitchFamily="18" charset="0"/>
            </a:endParaRPr>
          </a:p>
          <a:p>
            <a:pPr algn="just"/>
            <a:r>
              <a:rPr lang="en-US" sz="1000" dirty="0">
                <a:solidFill>
                  <a:schemeClr val="tx1"/>
                </a:solidFill>
                <a:latin typeface="Times New Roman" panose="02020603050405020304" pitchFamily="18" charset="0"/>
                <a:cs typeface="Times New Roman" panose="02020603050405020304" pitchFamily="18" charset="0"/>
              </a:rPr>
              <a:t>Outliers Detection</a:t>
            </a:r>
            <a:endParaRPr lang="en-IN" sz="1000" dirty="0">
              <a:solidFill>
                <a:schemeClr val="tx1"/>
              </a:solidFill>
              <a:latin typeface="Times New Roman" panose="02020603050405020304" pitchFamily="18" charset="0"/>
              <a:cs typeface="Times New Roman" panose="02020603050405020304" pitchFamily="18" charset="0"/>
            </a:endParaRPr>
          </a:p>
        </p:txBody>
      </p:sp>
      <p:sp>
        <p:nvSpPr>
          <p:cNvPr id="11" name="Right Arrow 10"/>
          <p:cNvSpPr/>
          <p:nvPr/>
        </p:nvSpPr>
        <p:spPr>
          <a:xfrm>
            <a:off x="4441053" y="3915816"/>
            <a:ext cx="1096859" cy="721977"/>
          </a:xfrm>
          <a:prstGeom prst="rightArrow">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5537912" y="3918985"/>
            <a:ext cx="3270652" cy="64133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Test and Train the data</a:t>
            </a:r>
            <a:endParaRPr lang="en-IN" sz="1600" dirty="0"/>
          </a:p>
        </p:txBody>
      </p:sp>
      <p:sp>
        <p:nvSpPr>
          <p:cNvPr id="13" name="Right Arrow 12"/>
          <p:cNvSpPr/>
          <p:nvPr/>
        </p:nvSpPr>
        <p:spPr>
          <a:xfrm flipH="1">
            <a:off x="4441052" y="4848407"/>
            <a:ext cx="1034048" cy="702326"/>
          </a:xfrm>
          <a:prstGeom prst="rightArrow">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1215244" y="4816329"/>
            <a:ext cx="3225808" cy="94501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Times New Roman" panose="02020603050405020304" pitchFamily="18" charset="0"/>
                <a:cs typeface="Times New Roman" panose="02020603050405020304" pitchFamily="18" charset="0"/>
              </a:rPr>
              <a:t>Random </a:t>
            </a:r>
            <a:r>
              <a:rPr lang="en-US" sz="1600" dirty="0" smtClean="0">
                <a:solidFill>
                  <a:schemeClr val="tx1"/>
                </a:solidFill>
                <a:latin typeface="Times New Roman" panose="02020603050405020304" pitchFamily="18" charset="0"/>
                <a:cs typeface="Times New Roman" panose="02020603050405020304" pitchFamily="18" charset="0"/>
              </a:rPr>
              <a:t>Forests</a:t>
            </a:r>
          </a:p>
          <a:p>
            <a:pPr algn="ctr"/>
            <a:r>
              <a:rPr lang="en-US" sz="1600" dirty="0">
                <a:solidFill>
                  <a:schemeClr val="tx1"/>
                </a:solidFill>
                <a:latin typeface="Times New Roman" panose="02020603050405020304" pitchFamily="18" charset="0"/>
                <a:cs typeface="Times New Roman" panose="02020603050405020304" pitchFamily="18" charset="0"/>
              </a:rPr>
              <a:t>Gradient Boosting Machines (GBM)</a:t>
            </a:r>
            <a:endParaRPr lang="en-IN" sz="1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38400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USE CASE DIAGRAM </a:t>
            </a:r>
            <a:r>
              <a:rPr lang="en-IN" dirty="0"/>
              <a:t/>
            </a:r>
            <a:br>
              <a:rPr lang="en-IN" dirty="0"/>
            </a:br>
            <a:endParaRPr lang="en-IN"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5" name="Picture 4"/>
          <p:cNvPicPr>
            <a:picLocks noChangeAspect="1"/>
          </p:cNvPicPr>
          <p:nvPr/>
        </p:nvPicPr>
        <p:blipFill rotWithShape="1">
          <a:blip r:embed="rId2"/>
          <a:srcRect t="-34258" b="26470"/>
          <a:stretch/>
        </p:blipFill>
        <p:spPr>
          <a:xfrm>
            <a:off x="1033609" y="3525284"/>
            <a:ext cx="1495961" cy="1727345"/>
          </a:xfrm>
          <a:prstGeom prst="rect">
            <a:avLst/>
          </a:prstGeom>
        </p:spPr>
      </p:pic>
      <p:pic>
        <p:nvPicPr>
          <p:cNvPr id="6" name="Picture 5"/>
          <p:cNvPicPr>
            <a:picLocks noChangeAspect="1"/>
          </p:cNvPicPr>
          <p:nvPr/>
        </p:nvPicPr>
        <p:blipFill>
          <a:blip r:embed="rId3"/>
          <a:stretch>
            <a:fillRect/>
          </a:stretch>
        </p:blipFill>
        <p:spPr>
          <a:xfrm>
            <a:off x="1033609" y="1272725"/>
            <a:ext cx="1495961" cy="1197735"/>
          </a:xfrm>
          <a:prstGeom prst="rect">
            <a:avLst/>
          </a:prstGeom>
        </p:spPr>
      </p:pic>
      <p:sp>
        <p:nvSpPr>
          <p:cNvPr id="7" name="Rectangle 6"/>
          <p:cNvSpPr/>
          <p:nvPr/>
        </p:nvSpPr>
        <p:spPr>
          <a:xfrm rot="5400000">
            <a:off x="3574998" y="2428780"/>
            <a:ext cx="4762960" cy="2665925"/>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4778063" y="1511544"/>
            <a:ext cx="2369712" cy="40740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solidFill>
                  <a:schemeClr val="tx1">
                    <a:lumMod val="95000"/>
                    <a:lumOff val="5000"/>
                  </a:schemeClr>
                </a:solidFill>
              </a:rPr>
              <a:t>Data Selection</a:t>
            </a:r>
            <a:endParaRPr lang="en-IN" dirty="0">
              <a:solidFill>
                <a:schemeClr val="tx1">
                  <a:lumMod val="95000"/>
                  <a:lumOff val="5000"/>
                </a:schemeClr>
              </a:solidFill>
            </a:endParaRPr>
          </a:p>
        </p:txBody>
      </p:sp>
      <p:sp>
        <p:nvSpPr>
          <p:cNvPr id="9" name="Rectangle 8"/>
          <p:cNvSpPr/>
          <p:nvPr/>
        </p:nvSpPr>
        <p:spPr>
          <a:xfrm>
            <a:off x="4771622" y="2230650"/>
            <a:ext cx="2369712" cy="40740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Data Pre-Processing</a:t>
            </a:r>
            <a:endParaRPr lang="en-IN" dirty="0"/>
          </a:p>
        </p:txBody>
      </p:sp>
      <p:sp>
        <p:nvSpPr>
          <p:cNvPr id="10" name="Rectangle 9"/>
          <p:cNvSpPr/>
          <p:nvPr/>
        </p:nvSpPr>
        <p:spPr>
          <a:xfrm>
            <a:off x="4771622" y="3012139"/>
            <a:ext cx="2369712" cy="40740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Data Splitting</a:t>
            </a:r>
            <a:endParaRPr lang="en-IN" dirty="0"/>
          </a:p>
        </p:txBody>
      </p:sp>
      <p:sp>
        <p:nvSpPr>
          <p:cNvPr id="11" name="Rectangle 10"/>
          <p:cNvSpPr/>
          <p:nvPr/>
        </p:nvSpPr>
        <p:spPr>
          <a:xfrm>
            <a:off x="4771622" y="3821255"/>
            <a:ext cx="2369712" cy="40740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Classification</a:t>
            </a:r>
            <a:endParaRPr lang="en-IN" dirty="0"/>
          </a:p>
        </p:txBody>
      </p:sp>
      <p:sp>
        <p:nvSpPr>
          <p:cNvPr id="12" name="Rectangle 11"/>
          <p:cNvSpPr/>
          <p:nvPr/>
        </p:nvSpPr>
        <p:spPr>
          <a:xfrm>
            <a:off x="4778063" y="4664279"/>
            <a:ext cx="2369712" cy="40740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Prediction</a:t>
            </a:r>
            <a:endParaRPr lang="en-IN" dirty="0"/>
          </a:p>
        </p:txBody>
      </p:sp>
      <p:sp>
        <p:nvSpPr>
          <p:cNvPr id="13" name="Rectangle 12"/>
          <p:cNvSpPr/>
          <p:nvPr/>
        </p:nvSpPr>
        <p:spPr>
          <a:xfrm>
            <a:off x="4778063" y="5507303"/>
            <a:ext cx="2369712" cy="40740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Evaluation</a:t>
            </a:r>
            <a:endParaRPr lang="en-IN" dirty="0"/>
          </a:p>
        </p:txBody>
      </p:sp>
      <p:cxnSp>
        <p:nvCxnSpPr>
          <p:cNvPr id="14" name="Straight Arrow Connector 13"/>
          <p:cNvCxnSpPr>
            <a:stCxn id="6" idx="3"/>
            <a:endCxn id="8" idx="1"/>
          </p:cNvCxnSpPr>
          <p:nvPr/>
        </p:nvCxnSpPr>
        <p:spPr>
          <a:xfrm flipV="1">
            <a:off x="2529570" y="1715248"/>
            <a:ext cx="2248493" cy="1563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p:nvPr/>
        </p:nvCxnSpPr>
        <p:spPr>
          <a:xfrm flipV="1">
            <a:off x="2536011" y="2354570"/>
            <a:ext cx="2242052" cy="2327114"/>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10" idx="1"/>
          </p:cNvCxnSpPr>
          <p:nvPr/>
        </p:nvCxnSpPr>
        <p:spPr>
          <a:xfrm flipV="1">
            <a:off x="2536011" y="3215843"/>
            <a:ext cx="2235611" cy="14484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p:cNvCxnSpPr>
            <a:endCxn id="11" idx="1"/>
          </p:cNvCxnSpPr>
          <p:nvPr/>
        </p:nvCxnSpPr>
        <p:spPr>
          <a:xfrm flipV="1">
            <a:off x="2536011" y="4024959"/>
            <a:ext cx="2235611" cy="639320"/>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12" idx="1"/>
          </p:cNvCxnSpPr>
          <p:nvPr/>
        </p:nvCxnSpPr>
        <p:spPr>
          <a:xfrm>
            <a:off x="2536011" y="4664279"/>
            <a:ext cx="2242052" cy="203704"/>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endCxn id="13" idx="1"/>
          </p:cNvCxnSpPr>
          <p:nvPr/>
        </p:nvCxnSpPr>
        <p:spPr>
          <a:xfrm>
            <a:off x="2536011" y="4664279"/>
            <a:ext cx="2242052" cy="1046728"/>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7289441" y="3631842"/>
            <a:ext cx="2457950" cy="38637"/>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1" name="Picture 2" descr="Illustration of business graph analysi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47391" y="2242781"/>
            <a:ext cx="2088633" cy="1985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44529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271463" y="204251"/>
            <a:ext cx="11658600" cy="6405829"/>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 name="Title 1"/>
          <p:cNvSpPr>
            <a:spLocks noGrp="1"/>
          </p:cNvSpPr>
          <p:nvPr>
            <p:ph type="title"/>
          </p:nvPr>
        </p:nvSpPr>
        <p:spPr>
          <a:xfrm>
            <a:off x="838200" y="365125"/>
            <a:ext cx="10515600" cy="1325563"/>
          </a:xfrm>
        </p:spPr>
        <p:txBody>
          <a:bodyPr>
            <a:normAutofit/>
          </a:bodyPr>
          <a:lstStyle/>
          <a:p>
            <a:pPr algn="ctr"/>
            <a:r>
              <a:rPr lang="en-US" sz="3200" b="1" dirty="0" smtClean="0">
                <a:latin typeface="Times New Roman" panose="02020603050405020304" pitchFamily="18" charset="0"/>
                <a:cs typeface="Times New Roman" panose="02020603050405020304" pitchFamily="18" charset="0"/>
              </a:rPr>
              <a:t>ER DIAGRAM</a:t>
            </a:r>
            <a:endParaRPr lang="en-IN" sz="3200" dirty="0">
              <a:latin typeface="Times New Roman" panose="02020603050405020304" pitchFamily="18" charset="0"/>
              <a:cs typeface="Times New Roman" panose="02020603050405020304" pitchFamily="18" charset="0"/>
            </a:endParaRPr>
          </a:p>
        </p:txBody>
      </p:sp>
      <p:sp>
        <p:nvSpPr>
          <p:cNvPr id="3" name="Rounded Rectangle 2"/>
          <p:cNvSpPr/>
          <p:nvPr/>
        </p:nvSpPr>
        <p:spPr>
          <a:xfrm>
            <a:off x="1043189" y="5834130"/>
            <a:ext cx="1081825" cy="6310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User</a:t>
            </a:r>
            <a:endParaRPr lang="en-IN" dirty="0"/>
          </a:p>
        </p:txBody>
      </p:sp>
      <p:sp>
        <p:nvSpPr>
          <p:cNvPr id="5" name="Flowchart: Decision 4"/>
          <p:cNvSpPr/>
          <p:nvPr/>
        </p:nvSpPr>
        <p:spPr>
          <a:xfrm>
            <a:off x="889715" y="4108360"/>
            <a:ext cx="1416676" cy="1107583"/>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Data Load</a:t>
            </a:r>
            <a:endParaRPr lang="en-IN" dirty="0"/>
          </a:p>
        </p:txBody>
      </p:sp>
      <p:sp>
        <p:nvSpPr>
          <p:cNvPr id="7" name="Oval 6"/>
          <p:cNvSpPr/>
          <p:nvPr/>
        </p:nvSpPr>
        <p:spPr>
          <a:xfrm>
            <a:off x="409708" y="2471634"/>
            <a:ext cx="1174394" cy="79849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Read</a:t>
            </a:r>
            <a:endParaRPr lang="en-IN" dirty="0"/>
          </a:p>
        </p:txBody>
      </p:sp>
      <p:sp>
        <p:nvSpPr>
          <p:cNvPr id="8" name="Oval 7"/>
          <p:cNvSpPr/>
          <p:nvPr/>
        </p:nvSpPr>
        <p:spPr>
          <a:xfrm>
            <a:off x="1366233" y="1747200"/>
            <a:ext cx="1338330" cy="8979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display</a:t>
            </a:r>
            <a:endParaRPr lang="en-IN" dirty="0"/>
          </a:p>
        </p:txBody>
      </p:sp>
      <p:sp>
        <p:nvSpPr>
          <p:cNvPr id="9" name="Oval 8"/>
          <p:cNvSpPr/>
          <p:nvPr/>
        </p:nvSpPr>
        <p:spPr>
          <a:xfrm>
            <a:off x="2134806" y="2701677"/>
            <a:ext cx="1048957" cy="914400"/>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Load</a:t>
            </a:r>
            <a:endParaRPr lang="en-IN" dirty="0"/>
          </a:p>
        </p:txBody>
      </p:sp>
      <p:cxnSp>
        <p:nvCxnSpPr>
          <p:cNvPr id="13" name="Straight Arrow Connector 12"/>
          <p:cNvCxnSpPr>
            <a:stCxn id="3" idx="0"/>
          </p:cNvCxnSpPr>
          <p:nvPr/>
        </p:nvCxnSpPr>
        <p:spPr>
          <a:xfrm flipV="1">
            <a:off x="1584102" y="5215943"/>
            <a:ext cx="13951" cy="6181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5" idx="0"/>
          </p:cNvCxnSpPr>
          <p:nvPr/>
        </p:nvCxnSpPr>
        <p:spPr>
          <a:xfrm flipH="1" flipV="1">
            <a:off x="1061300" y="3263352"/>
            <a:ext cx="536753" cy="845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0"/>
            <a:endCxn id="8" idx="4"/>
          </p:cNvCxnSpPr>
          <p:nvPr/>
        </p:nvCxnSpPr>
        <p:spPr>
          <a:xfrm flipV="1">
            <a:off x="1598053" y="2645165"/>
            <a:ext cx="437345" cy="14631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5" idx="0"/>
            <a:endCxn id="9" idx="3"/>
          </p:cNvCxnSpPr>
          <p:nvPr/>
        </p:nvCxnSpPr>
        <p:spPr>
          <a:xfrm flipV="1">
            <a:off x="1598053" y="3482166"/>
            <a:ext cx="690369" cy="6261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ounded Rectangle 24"/>
          <p:cNvSpPr/>
          <p:nvPr/>
        </p:nvSpPr>
        <p:spPr>
          <a:xfrm>
            <a:off x="9105363" y="5731099"/>
            <a:ext cx="1609860" cy="7340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Classification</a:t>
            </a:r>
            <a:endParaRPr lang="en-IN" dirty="0"/>
          </a:p>
        </p:txBody>
      </p:sp>
      <p:sp>
        <p:nvSpPr>
          <p:cNvPr id="28" name="Flowchart: Decision 27"/>
          <p:cNvSpPr/>
          <p:nvPr/>
        </p:nvSpPr>
        <p:spPr>
          <a:xfrm>
            <a:off x="8755063" y="3407165"/>
            <a:ext cx="2209215" cy="1620577"/>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latin typeface="Times New Roman" panose="02020603050405020304" pitchFamily="18" charset="0"/>
                <a:cs typeface="Times New Roman" panose="02020603050405020304" pitchFamily="18" charset="0"/>
              </a:rPr>
              <a:t>Random Forests</a:t>
            </a:r>
          </a:p>
          <a:p>
            <a:pPr algn="ctr"/>
            <a:r>
              <a:rPr lang="en-US" sz="1000" dirty="0">
                <a:solidFill>
                  <a:schemeClr val="bg1"/>
                </a:solidFill>
                <a:latin typeface="Times New Roman" panose="02020603050405020304" pitchFamily="18" charset="0"/>
                <a:cs typeface="Times New Roman" panose="02020603050405020304" pitchFamily="18" charset="0"/>
              </a:rPr>
              <a:t>Gradient Boosting Machines (GBM)</a:t>
            </a:r>
            <a:endParaRPr lang="en-IN" sz="1000" dirty="0">
              <a:solidFill>
                <a:schemeClr val="bg1"/>
              </a:solidFill>
              <a:latin typeface="Times New Roman" panose="02020603050405020304" pitchFamily="18" charset="0"/>
              <a:cs typeface="Times New Roman" panose="02020603050405020304" pitchFamily="18" charset="0"/>
            </a:endParaRPr>
          </a:p>
          <a:p>
            <a:pPr algn="ctr"/>
            <a:endParaRPr lang="en-IN" sz="1000" dirty="0">
              <a:solidFill>
                <a:schemeClr val="bg1"/>
              </a:solidFill>
            </a:endParaRPr>
          </a:p>
        </p:txBody>
      </p:sp>
      <p:cxnSp>
        <p:nvCxnSpPr>
          <p:cNvPr id="31" name="Straight Arrow Connector 30"/>
          <p:cNvCxnSpPr>
            <a:stCxn id="25" idx="0"/>
            <a:endCxn id="28" idx="2"/>
          </p:cNvCxnSpPr>
          <p:nvPr/>
        </p:nvCxnSpPr>
        <p:spPr>
          <a:xfrm flipH="1" flipV="1">
            <a:off x="9859671" y="5027742"/>
            <a:ext cx="50622" cy="7033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Oval 33"/>
          <p:cNvSpPr/>
          <p:nvPr/>
        </p:nvSpPr>
        <p:spPr>
          <a:xfrm>
            <a:off x="8883650" y="1781899"/>
            <a:ext cx="2002664" cy="8149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Performance Metrics</a:t>
            </a:r>
            <a:endParaRPr lang="en-IN" dirty="0"/>
          </a:p>
        </p:txBody>
      </p:sp>
      <p:cxnSp>
        <p:nvCxnSpPr>
          <p:cNvPr id="62" name="Straight Arrow Connector 61"/>
          <p:cNvCxnSpPr>
            <a:stCxn id="28" idx="0"/>
            <a:endCxn id="34" idx="4"/>
          </p:cNvCxnSpPr>
          <p:nvPr/>
        </p:nvCxnSpPr>
        <p:spPr>
          <a:xfrm flipV="1">
            <a:off x="9859671" y="2596876"/>
            <a:ext cx="25311" cy="8102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Flowchart: Decision 78"/>
          <p:cNvSpPr/>
          <p:nvPr/>
        </p:nvSpPr>
        <p:spPr>
          <a:xfrm>
            <a:off x="5229431" y="5155533"/>
            <a:ext cx="2212447" cy="127822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Feature Label Encoding</a:t>
            </a:r>
            <a:endParaRPr lang="en-IN" dirty="0"/>
          </a:p>
        </p:txBody>
      </p:sp>
      <p:sp>
        <p:nvSpPr>
          <p:cNvPr id="82" name="Flowchart: Decision 81"/>
          <p:cNvSpPr/>
          <p:nvPr/>
        </p:nvSpPr>
        <p:spPr>
          <a:xfrm>
            <a:off x="2814034" y="5415566"/>
            <a:ext cx="1765264" cy="1194515"/>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Preprocessing</a:t>
            </a:r>
            <a:endParaRPr lang="en-IN" dirty="0"/>
          </a:p>
        </p:txBody>
      </p:sp>
      <p:cxnSp>
        <p:nvCxnSpPr>
          <p:cNvPr id="84" name="Straight Arrow Connector 83"/>
          <p:cNvCxnSpPr>
            <a:stCxn id="3" idx="3"/>
            <a:endCxn id="82" idx="1"/>
          </p:cNvCxnSpPr>
          <p:nvPr/>
        </p:nvCxnSpPr>
        <p:spPr>
          <a:xfrm flipV="1">
            <a:off x="2125014" y="6012824"/>
            <a:ext cx="689020" cy="136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5" name="Oval 84"/>
          <p:cNvSpPr/>
          <p:nvPr/>
        </p:nvSpPr>
        <p:spPr>
          <a:xfrm>
            <a:off x="2506980" y="4274980"/>
            <a:ext cx="1565642" cy="10049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dirty="0"/>
              <a:t>Handling Missing Values</a:t>
            </a:r>
            <a:r>
              <a:rPr lang="en-IN" sz="900" dirty="0"/>
              <a:t>,</a:t>
            </a:r>
            <a:r>
              <a:rPr lang="en-US" sz="900" dirty="0"/>
              <a:t>Feature Scaling</a:t>
            </a:r>
            <a:endParaRPr lang="en-IN" sz="900" dirty="0"/>
          </a:p>
          <a:p>
            <a:r>
              <a:rPr lang="en-US" sz="900" dirty="0"/>
              <a:t>Feature </a:t>
            </a:r>
            <a:r>
              <a:rPr lang="en-US" sz="900" dirty="0" smtClean="0"/>
              <a:t>Engineering Detection</a:t>
            </a:r>
            <a:endParaRPr lang="en-IN" sz="900" dirty="0">
              <a:effectLst/>
            </a:endParaRPr>
          </a:p>
        </p:txBody>
      </p:sp>
      <p:cxnSp>
        <p:nvCxnSpPr>
          <p:cNvPr id="88" name="Straight Arrow Connector 87"/>
          <p:cNvCxnSpPr>
            <a:stCxn id="82" idx="0"/>
            <a:endCxn id="85" idx="4"/>
          </p:cNvCxnSpPr>
          <p:nvPr/>
        </p:nvCxnSpPr>
        <p:spPr>
          <a:xfrm flipH="1" flipV="1">
            <a:off x="3289801" y="5279881"/>
            <a:ext cx="406865" cy="1356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Oval 88"/>
          <p:cNvSpPr/>
          <p:nvPr/>
        </p:nvSpPr>
        <p:spPr>
          <a:xfrm>
            <a:off x="6285345" y="3633863"/>
            <a:ext cx="1615016" cy="11990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Prediction</a:t>
            </a:r>
            <a:endParaRPr lang="en-IN" dirty="0"/>
          </a:p>
        </p:txBody>
      </p:sp>
      <p:sp>
        <p:nvSpPr>
          <p:cNvPr id="92" name="Oval 91"/>
          <p:cNvSpPr/>
          <p:nvPr/>
        </p:nvSpPr>
        <p:spPr>
          <a:xfrm>
            <a:off x="4228065" y="2683450"/>
            <a:ext cx="1465831" cy="72371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Data Splitting</a:t>
            </a:r>
            <a:endParaRPr lang="en-IN" dirty="0"/>
          </a:p>
        </p:txBody>
      </p:sp>
      <p:cxnSp>
        <p:nvCxnSpPr>
          <p:cNvPr id="94" name="Straight Arrow Connector 93"/>
          <p:cNvCxnSpPr>
            <a:stCxn id="5" idx="3"/>
            <a:endCxn id="92" idx="3"/>
          </p:cNvCxnSpPr>
          <p:nvPr/>
        </p:nvCxnSpPr>
        <p:spPr>
          <a:xfrm flipV="1">
            <a:off x="2306391" y="3301179"/>
            <a:ext cx="2136340" cy="13609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5" name="Oval 94"/>
          <p:cNvSpPr/>
          <p:nvPr/>
        </p:nvSpPr>
        <p:spPr>
          <a:xfrm>
            <a:off x="3399057" y="1595500"/>
            <a:ext cx="1347131" cy="6106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a:t>
            </a:r>
            <a:endParaRPr lang="en-IN" dirty="0"/>
          </a:p>
        </p:txBody>
      </p:sp>
      <p:sp>
        <p:nvSpPr>
          <p:cNvPr id="96" name="Oval 95"/>
          <p:cNvSpPr/>
          <p:nvPr/>
        </p:nvSpPr>
        <p:spPr>
          <a:xfrm>
            <a:off x="5111710" y="1595500"/>
            <a:ext cx="1499888" cy="68009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Train</a:t>
            </a:r>
            <a:endParaRPr lang="en-IN" dirty="0"/>
          </a:p>
        </p:txBody>
      </p:sp>
      <p:cxnSp>
        <p:nvCxnSpPr>
          <p:cNvPr id="103" name="Straight Arrow Connector 102"/>
          <p:cNvCxnSpPr>
            <a:stCxn id="92" idx="0"/>
            <a:endCxn id="95" idx="4"/>
          </p:cNvCxnSpPr>
          <p:nvPr/>
        </p:nvCxnSpPr>
        <p:spPr>
          <a:xfrm flipH="1" flipV="1">
            <a:off x="4072623" y="2206121"/>
            <a:ext cx="888358" cy="4773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a:stCxn id="92" idx="0"/>
            <a:endCxn id="96" idx="4"/>
          </p:cNvCxnSpPr>
          <p:nvPr/>
        </p:nvCxnSpPr>
        <p:spPr>
          <a:xfrm flipV="1">
            <a:off x="4960981" y="2275591"/>
            <a:ext cx="900673" cy="4078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p:cNvCxnSpPr>
            <a:stCxn id="92" idx="4"/>
            <a:endCxn id="79" idx="0"/>
          </p:cNvCxnSpPr>
          <p:nvPr/>
        </p:nvCxnSpPr>
        <p:spPr>
          <a:xfrm>
            <a:off x="4960981" y="3407165"/>
            <a:ext cx="1374674" cy="1748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a:stCxn id="79" idx="3"/>
            <a:endCxn id="25" idx="1"/>
          </p:cNvCxnSpPr>
          <p:nvPr/>
        </p:nvCxnSpPr>
        <p:spPr>
          <a:xfrm>
            <a:off x="7441878" y="5794647"/>
            <a:ext cx="1663485" cy="303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p:cNvCxnSpPr>
            <a:stCxn id="28" idx="1"/>
            <a:endCxn id="89" idx="6"/>
          </p:cNvCxnSpPr>
          <p:nvPr/>
        </p:nvCxnSpPr>
        <p:spPr>
          <a:xfrm flipH="1">
            <a:off x="7900361" y="4217454"/>
            <a:ext cx="854702" cy="159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4234062" y="4304853"/>
            <a:ext cx="1453838" cy="8626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smtClean="0"/>
              <a:t>Encoding </a:t>
            </a:r>
            <a:r>
              <a:rPr lang="en-US" sz="1200" dirty="0"/>
              <a:t>Categorical Variables,</a:t>
            </a:r>
            <a:endParaRPr lang="en-IN" sz="1200" dirty="0"/>
          </a:p>
          <a:p>
            <a:r>
              <a:rPr lang="en-US" sz="1200" dirty="0"/>
              <a:t>Outliers</a:t>
            </a:r>
            <a:endParaRPr lang="en-IN" sz="1200" dirty="0">
              <a:solidFill>
                <a:schemeClr val="bg1"/>
              </a:solidFill>
              <a:latin typeface="Times New Roman" panose="02020603050405020304" pitchFamily="18" charset="0"/>
              <a:cs typeface="Times New Roman" panose="02020603050405020304" pitchFamily="18" charset="0"/>
            </a:endParaRPr>
          </a:p>
        </p:txBody>
      </p:sp>
      <p:cxnSp>
        <p:nvCxnSpPr>
          <p:cNvPr id="16" name="Straight Arrow Connector 15"/>
          <p:cNvCxnSpPr>
            <a:stCxn id="82" idx="0"/>
            <a:endCxn id="12" idx="4"/>
          </p:cNvCxnSpPr>
          <p:nvPr/>
        </p:nvCxnSpPr>
        <p:spPr>
          <a:xfrm flipV="1">
            <a:off x="3696666" y="5167551"/>
            <a:ext cx="1264315" cy="248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29770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a:xfrm>
            <a:off x="3927229" y="798266"/>
            <a:ext cx="4753132" cy="584775"/>
          </a:xfrm>
          <a:prstGeom prst="rect">
            <a:avLst/>
          </a:prstGeom>
        </p:spPr>
        <p:txBody>
          <a:bodyPr wrap="square">
            <a:spAutoFit/>
          </a:bodyPr>
          <a:lstStyle/>
          <a:p>
            <a:pPr algn="ctr"/>
            <a:r>
              <a:rPr lang="en-US" sz="3200" b="1" dirty="0" smtClean="0">
                <a:latin typeface="Times New Roman" panose="02020603050405020304" pitchFamily="18" charset="0"/>
                <a:cs typeface="Times New Roman" panose="02020603050405020304" pitchFamily="18" charset="0"/>
              </a:rPr>
              <a:t>SEQUENCE DIAGRAM</a:t>
            </a:r>
            <a:endParaRPr lang="en-IN" sz="3200" b="1" dirty="0">
              <a:latin typeface="Times New Roman" panose="02020603050405020304" pitchFamily="18" charset="0"/>
              <a:cs typeface="Times New Roman" panose="02020603050405020304" pitchFamily="18" charset="0"/>
            </a:endParaRPr>
          </a:p>
        </p:txBody>
      </p:sp>
      <p:sp>
        <p:nvSpPr>
          <p:cNvPr id="21" name="Rectangle 20"/>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pSp>
        <p:nvGrpSpPr>
          <p:cNvPr id="44" name="Group 43"/>
          <p:cNvGrpSpPr/>
          <p:nvPr/>
        </p:nvGrpSpPr>
        <p:grpSpPr>
          <a:xfrm>
            <a:off x="2866414" y="1938419"/>
            <a:ext cx="6553198" cy="4612004"/>
            <a:chOff x="0" y="-28573"/>
            <a:chExt cx="9063293" cy="4612636"/>
          </a:xfrm>
        </p:grpSpPr>
        <p:sp>
          <p:nvSpPr>
            <p:cNvPr id="45" name="Rectangle 44"/>
            <p:cNvSpPr/>
            <p:nvPr/>
          </p:nvSpPr>
          <p:spPr>
            <a:xfrm>
              <a:off x="0" y="1"/>
              <a:ext cx="1190334" cy="59240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400" kern="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Data Loading</a:t>
              </a:r>
              <a:endParaRPr lang="en-IN" sz="1200">
                <a:effectLst/>
                <a:latin typeface="Times New Roman" panose="02020603050405020304" pitchFamily="18" charset="0"/>
                <a:ea typeface="Times New Roman" panose="02020603050405020304" pitchFamily="18" charset="0"/>
              </a:endParaRPr>
            </a:p>
          </p:txBody>
        </p:sp>
        <p:sp>
          <p:nvSpPr>
            <p:cNvPr id="46" name="Rectangle 45"/>
            <p:cNvSpPr/>
            <p:nvPr/>
          </p:nvSpPr>
          <p:spPr>
            <a:xfrm>
              <a:off x="1755770" y="-28573"/>
              <a:ext cx="1655810" cy="59240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400" kern="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Preprocessing </a:t>
              </a:r>
              <a:endParaRPr lang="en-IN" sz="1200">
                <a:effectLst/>
                <a:latin typeface="Times New Roman" panose="02020603050405020304" pitchFamily="18" charset="0"/>
                <a:ea typeface="Times New Roman" panose="02020603050405020304" pitchFamily="18" charset="0"/>
              </a:endParaRPr>
            </a:p>
          </p:txBody>
        </p:sp>
        <p:sp>
          <p:nvSpPr>
            <p:cNvPr id="47" name="Rectangle 46"/>
            <p:cNvSpPr/>
            <p:nvPr/>
          </p:nvSpPr>
          <p:spPr>
            <a:xfrm>
              <a:off x="3980941" y="0"/>
              <a:ext cx="1190334" cy="59240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0"/>
                </a:spcAft>
              </a:pPr>
              <a:r>
                <a:rPr lang="en-IN" sz="1400" dirty="0">
                  <a:effectLst/>
                  <a:latin typeface="Times New Roman" panose="02020603050405020304" pitchFamily="18" charset="0"/>
                  <a:ea typeface="Times New Roman" panose="02020603050405020304" pitchFamily="18" charset="0"/>
                </a:rPr>
                <a:t> </a:t>
              </a:r>
              <a:endParaRPr lang="en-IN" sz="1200" dirty="0">
                <a:effectLst/>
                <a:latin typeface="Times New Roman" panose="02020603050405020304" pitchFamily="18" charset="0"/>
                <a:ea typeface="Times New Roman" panose="02020603050405020304" pitchFamily="18" charset="0"/>
              </a:endParaRPr>
            </a:p>
            <a:p>
              <a:pPr algn="ctr">
                <a:spcAft>
                  <a:spcPts val="0"/>
                </a:spcAft>
              </a:pPr>
              <a:r>
                <a:rPr lang="en-US" sz="14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Splitting</a:t>
              </a:r>
              <a:r>
                <a:rPr lang="en-IN" sz="1400" kern="1200" dirty="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200" dirty="0">
                <a:effectLst/>
                <a:latin typeface="Times New Roman" panose="02020603050405020304" pitchFamily="18" charset="0"/>
                <a:ea typeface="Times New Roman" panose="02020603050405020304" pitchFamily="18" charset="0"/>
              </a:endParaRPr>
            </a:p>
          </p:txBody>
        </p:sp>
        <p:sp>
          <p:nvSpPr>
            <p:cNvPr id="48" name="Rectangle 47"/>
            <p:cNvSpPr/>
            <p:nvPr/>
          </p:nvSpPr>
          <p:spPr>
            <a:xfrm>
              <a:off x="5638213" y="-36"/>
              <a:ext cx="1633500" cy="59240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400" kern="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Algorithm</a:t>
              </a:r>
              <a:endParaRPr lang="en-IN" sz="1200">
                <a:effectLst/>
                <a:latin typeface="Times New Roman" panose="02020603050405020304" pitchFamily="18" charset="0"/>
                <a:ea typeface="Times New Roman" panose="02020603050405020304" pitchFamily="18" charset="0"/>
              </a:endParaRPr>
            </a:p>
          </p:txBody>
        </p:sp>
        <p:sp>
          <p:nvSpPr>
            <p:cNvPr id="49" name="Rectangle 48"/>
            <p:cNvSpPr/>
            <p:nvPr/>
          </p:nvSpPr>
          <p:spPr>
            <a:xfrm>
              <a:off x="424107" y="1172718"/>
              <a:ext cx="342120" cy="2925738"/>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50" name="Rectangle 49"/>
            <p:cNvSpPr/>
            <p:nvPr/>
          </p:nvSpPr>
          <p:spPr>
            <a:xfrm>
              <a:off x="6245207" y="1172718"/>
              <a:ext cx="342120" cy="2925738"/>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51" name="Rectangle 50"/>
            <p:cNvSpPr/>
            <p:nvPr/>
          </p:nvSpPr>
          <p:spPr>
            <a:xfrm>
              <a:off x="4304840" y="1172718"/>
              <a:ext cx="342120" cy="2925738"/>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52" name="Rectangle 51"/>
            <p:cNvSpPr/>
            <p:nvPr/>
          </p:nvSpPr>
          <p:spPr>
            <a:xfrm>
              <a:off x="2364473" y="1172718"/>
              <a:ext cx="342120" cy="2925738"/>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cxnSp>
          <p:nvCxnSpPr>
            <p:cNvPr id="53" name="Straight Connector 52"/>
            <p:cNvCxnSpPr/>
            <p:nvPr/>
          </p:nvCxnSpPr>
          <p:spPr>
            <a:xfrm>
              <a:off x="595167" y="592403"/>
              <a:ext cx="0" cy="5803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766227" y="1607949"/>
              <a:ext cx="159824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23"/>
            <p:cNvSpPr txBox="1"/>
            <p:nvPr/>
          </p:nvSpPr>
          <p:spPr>
            <a:xfrm>
              <a:off x="923902" y="1032047"/>
              <a:ext cx="1238557" cy="501478"/>
            </a:xfrm>
            <a:prstGeom prst="rect">
              <a:avLst/>
            </a:prstGeom>
            <a:noFill/>
          </p:spPr>
          <p:txBody>
            <a:bodyPr wrap="square" rtlCol="0">
              <a:noAutofit/>
            </a:bodyPr>
            <a:lstStyle/>
            <a:p>
              <a:pPr algn="ctr">
                <a:spcAft>
                  <a:spcPts val="0"/>
                </a:spcAft>
              </a:pPr>
              <a:r>
                <a:rPr lang="en-US" sz="12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Select Data</a:t>
              </a:r>
              <a:endParaRPr lang="en-IN" sz="1200" dirty="0">
                <a:effectLst/>
                <a:latin typeface="Times New Roman" panose="02020603050405020304" pitchFamily="18" charset="0"/>
                <a:ea typeface="Times New Roman" panose="02020603050405020304" pitchFamily="18" charset="0"/>
              </a:endParaRPr>
            </a:p>
          </p:txBody>
        </p:sp>
        <p:sp>
          <p:nvSpPr>
            <p:cNvPr id="57" name="TextBox 25"/>
            <p:cNvSpPr txBox="1"/>
            <p:nvPr/>
          </p:nvSpPr>
          <p:spPr>
            <a:xfrm>
              <a:off x="2926158" y="1411842"/>
              <a:ext cx="1287687" cy="692867"/>
            </a:xfrm>
            <a:prstGeom prst="rect">
              <a:avLst/>
            </a:prstGeom>
            <a:noFill/>
          </p:spPr>
          <p:txBody>
            <a:bodyPr wrap="square" rtlCol="0">
              <a:noAutofit/>
            </a:bodyPr>
            <a:lstStyle/>
            <a:p>
              <a:pPr algn="ctr">
                <a:spcAft>
                  <a:spcPts val="0"/>
                </a:spcAft>
              </a:pPr>
              <a:endParaRPr lang="en-IN" sz="1200" dirty="0">
                <a:effectLst/>
                <a:latin typeface="Times New Roman" panose="02020603050405020304" pitchFamily="18" charset="0"/>
                <a:ea typeface="Times New Roman" panose="02020603050405020304" pitchFamily="18" charset="0"/>
              </a:endParaRPr>
            </a:p>
          </p:txBody>
        </p:sp>
        <p:sp>
          <p:nvSpPr>
            <p:cNvPr id="58" name="TextBox 27"/>
            <p:cNvSpPr txBox="1"/>
            <p:nvPr/>
          </p:nvSpPr>
          <p:spPr>
            <a:xfrm>
              <a:off x="4801953" y="1816701"/>
              <a:ext cx="1442962" cy="288007"/>
            </a:xfrm>
            <a:prstGeom prst="rect">
              <a:avLst/>
            </a:prstGeom>
            <a:noFill/>
          </p:spPr>
          <p:txBody>
            <a:bodyPr wrap="square" rtlCol="0">
              <a:noAutofit/>
            </a:bodyPr>
            <a:lstStyle/>
            <a:p>
              <a:pPr algn="ctr">
                <a:spcAft>
                  <a:spcPts val="0"/>
                </a:spcAft>
              </a:pPr>
              <a:r>
                <a:rPr lang="en-IN" sz="1000">
                  <a:effectLst/>
                  <a:latin typeface="Times New Roman" panose="02020603050405020304" pitchFamily="18" charset="0"/>
                  <a:ea typeface="Times New Roman" panose="02020603050405020304" pitchFamily="18" charset="0"/>
                </a:rPr>
                <a:t> </a:t>
              </a:r>
              <a:endParaRPr lang="en-IN" sz="1200">
                <a:effectLst/>
                <a:latin typeface="Times New Roman" panose="02020603050405020304" pitchFamily="18" charset="0"/>
                <a:ea typeface="Times New Roman" panose="02020603050405020304" pitchFamily="18" charset="0"/>
              </a:endParaRPr>
            </a:p>
          </p:txBody>
        </p:sp>
        <p:cxnSp>
          <p:nvCxnSpPr>
            <p:cNvPr id="59" name="Straight Arrow Connector 58"/>
            <p:cNvCxnSpPr/>
            <p:nvPr/>
          </p:nvCxnSpPr>
          <p:spPr>
            <a:xfrm>
              <a:off x="766227" y="2964025"/>
              <a:ext cx="159824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29"/>
            <p:cNvSpPr txBox="1"/>
            <p:nvPr/>
          </p:nvSpPr>
          <p:spPr>
            <a:xfrm>
              <a:off x="920008" y="2623414"/>
              <a:ext cx="1418094" cy="288007"/>
            </a:xfrm>
            <a:prstGeom prst="rect">
              <a:avLst/>
            </a:prstGeom>
            <a:noFill/>
          </p:spPr>
          <p:txBody>
            <a:bodyPr wrap="square" rtlCol="0">
              <a:noAutofit/>
            </a:bodyPr>
            <a:lstStyle/>
            <a:p>
              <a:pPr algn="ctr">
                <a:spcAft>
                  <a:spcPts val="0"/>
                </a:spcAft>
              </a:pPr>
              <a:r>
                <a:rPr lang="en-US" sz="1100" kern="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Load Data</a:t>
              </a:r>
              <a:endParaRPr lang="en-IN" sz="1200">
                <a:effectLst/>
                <a:latin typeface="Times New Roman" panose="02020603050405020304" pitchFamily="18" charset="0"/>
                <a:ea typeface="Times New Roman" panose="02020603050405020304" pitchFamily="18" charset="0"/>
              </a:endParaRPr>
            </a:p>
          </p:txBody>
        </p:sp>
        <p:cxnSp>
          <p:nvCxnSpPr>
            <p:cNvPr id="61" name="Straight Arrow Connector 60"/>
            <p:cNvCxnSpPr/>
            <p:nvPr/>
          </p:nvCxnSpPr>
          <p:spPr>
            <a:xfrm>
              <a:off x="2706593" y="2689395"/>
              <a:ext cx="159824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32"/>
            <p:cNvSpPr txBox="1"/>
            <p:nvPr/>
          </p:nvSpPr>
          <p:spPr>
            <a:xfrm>
              <a:off x="2884965" y="1885188"/>
              <a:ext cx="1507877" cy="674510"/>
            </a:xfrm>
            <a:prstGeom prst="rect">
              <a:avLst/>
            </a:prstGeom>
            <a:noFill/>
          </p:spPr>
          <p:txBody>
            <a:bodyPr wrap="square" rtlCol="0">
              <a:noAutofit/>
            </a:bodyPr>
            <a:lstStyle/>
            <a:p>
              <a:r>
                <a:rPr lang="en-US" sz="1200" dirty="0">
                  <a:latin typeface="Times New Roman" panose="02020603050405020304" pitchFamily="18" charset="0"/>
                  <a:cs typeface="Times New Roman" panose="02020603050405020304" pitchFamily="18" charset="0"/>
                </a:rPr>
                <a:t>Handling Missing Values</a:t>
              </a:r>
              <a:r>
                <a:rPr lang="en-IN" sz="1200" dirty="0">
                  <a:latin typeface="Times New Roman" panose="02020603050405020304" pitchFamily="18" charset="0"/>
                  <a:cs typeface="Times New Roman" panose="02020603050405020304" pitchFamily="18" charset="0"/>
                </a:rPr>
                <a:t>,</a:t>
              </a:r>
              <a:r>
                <a:rPr lang="en-US" sz="1200" dirty="0">
                  <a:latin typeface="Times New Roman" panose="02020603050405020304" pitchFamily="18" charset="0"/>
                  <a:cs typeface="Times New Roman" panose="02020603050405020304" pitchFamily="18" charset="0"/>
                </a:rPr>
                <a:t>Feature Scaling</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Feature Engineering</a:t>
              </a:r>
              <a:r>
                <a:rPr lang="en-IN" sz="1200" dirty="0">
                  <a:latin typeface="Times New Roman" panose="02020603050405020304" pitchFamily="18" charset="0"/>
                  <a:cs typeface="Times New Roman" panose="02020603050405020304" pitchFamily="18" charset="0"/>
                </a:rPr>
                <a:t>,</a:t>
              </a:r>
              <a:r>
                <a:rPr lang="en-US" sz="1200" dirty="0">
                  <a:latin typeface="Times New Roman" panose="02020603050405020304" pitchFamily="18" charset="0"/>
                  <a:cs typeface="Times New Roman" panose="02020603050405020304" pitchFamily="18" charset="0"/>
                </a:rPr>
                <a:t>Encoding Categorical Variables,</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Outliers Detection</a:t>
              </a:r>
              <a:endParaRPr lang="en-IN" sz="1200" dirty="0">
                <a:effectLst/>
                <a:latin typeface="Times New Roman" panose="02020603050405020304" pitchFamily="18" charset="0"/>
                <a:cs typeface="Times New Roman" panose="02020603050405020304" pitchFamily="18" charset="0"/>
              </a:endParaRPr>
            </a:p>
          </p:txBody>
        </p:sp>
        <p:cxnSp>
          <p:nvCxnSpPr>
            <p:cNvPr id="63" name="Straight Arrow Connector 62"/>
            <p:cNvCxnSpPr/>
            <p:nvPr/>
          </p:nvCxnSpPr>
          <p:spPr>
            <a:xfrm>
              <a:off x="4646961" y="3437543"/>
              <a:ext cx="159824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TextBox 34"/>
            <p:cNvSpPr txBox="1"/>
            <p:nvPr/>
          </p:nvSpPr>
          <p:spPr>
            <a:xfrm>
              <a:off x="4650207" y="1926473"/>
              <a:ext cx="1442961" cy="342588"/>
            </a:xfrm>
            <a:prstGeom prst="rect">
              <a:avLst/>
            </a:prstGeom>
            <a:noFill/>
          </p:spPr>
          <p:txBody>
            <a:bodyPr wrap="square" rtlCol="0">
              <a:noAutofit/>
            </a:bodyPr>
            <a:lstStyle/>
            <a:p>
              <a:pPr algn="ctr">
                <a:spcAft>
                  <a:spcPts val="0"/>
                </a:spcAft>
              </a:pPr>
              <a:r>
                <a:rPr lang="en-US" sz="1200" kern="1200">
                  <a:effectLst/>
                  <a:latin typeface="Times New Roman" panose="02020603050405020304" pitchFamily="18" charset="0"/>
                  <a:ea typeface="Times New Roman" panose="02020603050405020304" pitchFamily="18" charset="0"/>
                  <a:cs typeface="Times New Roman" panose="02020603050405020304" pitchFamily="18" charset="0"/>
                </a:rPr>
                <a:t>Training</a:t>
              </a:r>
              <a:endParaRPr lang="en-IN" sz="1200">
                <a:effectLst/>
                <a:latin typeface="Times New Roman" panose="02020603050405020304" pitchFamily="18" charset="0"/>
                <a:ea typeface="Times New Roman" panose="02020603050405020304" pitchFamily="18" charset="0"/>
              </a:endParaRPr>
            </a:p>
            <a:p>
              <a:pPr algn="ctr">
                <a:spcAft>
                  <a:spcPts val="0"/>
                </a:spcAft>
              </a:pPr>
              <a:r>
                <a:rPr lang="en-IN" sz="1200">
                  <a:effectLst/>
                  <a:latin typeface="Times New Roman" panose="02020603050405020304" pitchFamily="18" charset="0"/>
                  <a:ea typeface="Times New Roman" panose="02020603050405020304" pitchFamily="18" charset="0"/>
                </a:rPr>
                <a:t> </a:t>
              </a:r>
            </a:p>
            <a:p>
              <a:pPr>
                <a:lnSpc>
                  <a:spcPct val="107000"/>
                </a:lnSpc>
                <a:spcAft>
                  <a:spcPts val="800"/>
                </a:spcAft>
              </a:pPr>
              <a:r>
                <a:rPr lang="en-IN" sz="1100">
                  <a:effectLst/>
                  <a:latin typeface="Calibri" panose="020F0502020204030204" pitchFamily="34" charset="0"/>
                  <a:ea typeface="Calibri" panose="020F0502020204030204" pitchFamily="34" charset="0"/>
                  <a:cs typeface="Times New Roman" panose="02020603050405020304" pitchFamily="18" charset="0"/>
                </a:rPr>
                <a:t> </a:t>
              </a:r>
            </a:p>
          </p:txBody>
        </p:sp>
        <p:cxnSp>
          <p:nvCxnSpPr>
            <p:cNvPr id="65" name="Straight Connector 64"/>
            <p:cNvCxnSpPr/>
            <p:nvPr/>
          </p:nvCxnSpPr>
          <p:spPr>
            <a:xfrm>
              <a:off x="2525412" y="592402"/>
              <a:ext cx="0" cy="5803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4477925" y="592402"/>
              <a:ext cx="0" cy="5803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a:off x="6416267" y="592402"/>
              <a:ext cx="0" cy="5803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p:nvPr/>
          </p:nvCxnSpPr>
          <p:spPr>
            <a:xfrm>
              <a:off x="595167" y="4098456"/>
              <a:ext cx="0" cy="45941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a:off x="2549704" y="4124650"/>
              <a:ext cx="0" cy="45941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4477925" y="4098456"/>
              <a:ext cx="0" cy="45941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a:off x="6416267" y="4098456"/>
              <a:ext cx="0" cy="45941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6" name="Rectangle 105"/>
            <p:cNvSpPr/>
            <p:nvPr/>
          </p:nvSpPr>
          <p:spPr>
            <a:xfrm>
              <a:off x="7678871" y="-41"/>
              <a:ext cx="1384422" cy="59240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latin typeface="Times New Roman" panose="02020603050405020304" pitchFamily="18" charset="0"/>
                  <a:cs typeface="Times New Roman" panose="02020603050405020304" pitchFamily="18" charset="0"/>
                </a:rPr>
                <a:t>Prediction</a:t>
              </a:r>
              <a:endParaRPr lang="en-IN" sz="1400" dirty="0">
                <a:solidFill>
                  <a:schemeClr val="tx1"/>
                </a:solidFill>
                <a:latin typeface="Times New Roman" panose="02020603050405020304" pitchFamily="18" charset="0"/>
                <a:cs typeface="Times New Roman" panose="02020603050405020304" pitchFamily="18" charset="0"/>
              </a:endParaRPr>
            </a:p>
          </p:txBody>
        </p:sp>
        <p:cxnSp>
          <p:nvCxnSpPr>
            <p:cNvPr id="107" name="Straight Connector 106"/>
            <p:cNvCxnSpPr/>
            <p:nvPr/>
          </p:nvCxnSpPr>
          <p:spPr>
            <a:xfrm>
              <a:off x="8379425" y="592366"/>
              <a:ext cx="0" cy="5803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8" name="Rectangle 107"/>
            <p:cNvSpPr/>
            <p:nvPr/>
          </p:nvSpPr>
          <p:spPr>
            <a:xfrm>
              <a:off x="8233678" y="1160545"/>
              <a:ext cx="342120" cy="2925738"/>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cxnSp>
          <p:nvCxnSpPr>
            <p:cNvPr id="109" name="Straight Arrow Connector 108"/>
            <p:cNvCxnSpPr/>
            <p:nvPr/>
          </p:nvCxnSpPr>
          <p:spPr>
            <a:xfrm>
              <a:off x="8414437" y="4086283"/>
              <a:ext cx="0" cy="45941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TextBox 1"/>
            <p:cNvSpPr txBox="1"/>
            <p:nvPr/>
          </p:nvSpPr>
          <p:spPr>
            <a:xfrm>
              <a:off x="6958494" y="2967286"/>
              <a:ext cx="1275184" cy="266736"/>
            </a:xfrm>
            <a:prstGeom prst="rect">
              <a:avLst/>
            </a:prstGeom>
            <a:noFill/>
          </p:spPr>
          <p:txBody>
            <a:bodyPr wrap="square" rtlCol="0">
              <a:spAutoFit/>
            </a:bodyPr>
            <a:lstStyle/>
            <a:p>
              <a:pPr>
                <a:spcAft>
                  <a:spcPts val="0"/>
                </a:spcAft>
              </a:pPr>
              <a:r>
                <a:rPr lang="en-US" sz="1200">
                  <a:effectLst/>
                  <a:latin typeface="Times New Roman" panose="02020603050405020304" pitchFamily="18" charset="0"/>
                  <a:ea typeface="Times New Roman" panose="02020603050405020304" pitchFamily="18" charset="0"/>
                </a:rPr>
                <a:t> </a:t>
              </a:r>
              <a:endParaRPr lang="en-IN" sz="1200">
                <a:effectLst/>
                <a:latin typeface="Times New Roman" panose="02020603050405020304" pitchFamily="18" charset="0"/>
                <a:ea typeface="Times New Roman" panose="02020603050405020304" pitchFamily="18" charset="0"/>
              </a:endParaRPr>
            </a:p>
          </p:txBody>
        </p:sp>
      </p:grpSp>
      <p:sp>
        <p:nvSpPr>
          <p:cNvPr id="112" name="TextBox 34"/>
          <p:cNvSpPr txBox="1"/>
          <p:nvPr/>
        </p:nvSpPr>
        <p:spPr>
          <a:xfrm>
            <a:off x="6257683" y="4858449"/>
            <a:ext cx="1043305" cy="342265"/>
          </a:xfrm>
          <a:prstGeom prst="rect">
            <a:avLst/>
          </a:prstGeom>
          <a:noFill/>
        </p:spPr>
        <p:txBody>
          <a:bodyPr wrap="square" rtlCol="0">
            <a:noAutofit/>
          </a:bodyPr>
          <a:lstStyle/>
          <a:p>
            <a:pPr algn="ctr">
              <a:spcAft>
                <a:spcPts val="0"/>
              </a:spcAft>
            </a:pPr>
            <a:r>
              <a:rPr lang="en-US" sz="1200" kern="1200">
                <a:effectLst/>
                <a:latin typeface="Times New Roman" panose="02020603050405020304" pitchFamily="18" charset="0"/>
                <a:ea typeface="Times New Roman" panose="02020603050405020304" pitchFamily="18" charset="0"/>
                <a:cs typeface="Times New Roman" panose="02020603050405020304" pitchFamily="18" charset="0"/>
              </a:rPr>
              <a:t>Testing</a:t>
            </a:r>
            <a:endParaRPr lang="en-IN" sz="1200">
              <a:effectLst/>
              <a:latin typeface="Times New Roman" panose="02020603050405020304" pitchFamily="18" charset="0"/>
              <a:ea typeface="Times New Roman" panose="02020603050405020304" pitchFamily="18" charset="0"/>
            </a:endParaRPr>
          </a:p>
          <a:p>
            <a:pPr algn="ctr">
              <a:spcAft>
                <a:spcPts val="0"/>
              </a:spcAft>
            </a:pPr>
            <a:r>
              <a:rPr lang="en-IN" sz="1200">
                <a:effectLst/>
                <a:latin typeface="Times New Roman" panose="02020603050405020304" pitchFamily="18" charset="0"/>
                <a:ea typeface="Times New Roman" panose="02020603050405020304" pitchFamily="18" charset="0"/>
              </a:rPr>
              <a:t> </a:t>
            </a:r>
          </a:p>
          <a:p>
            <a:pPr>
              <a:lnSpc>
                <a:spcPct val="107000"/>
              </a:lnSpc>
              <a:spcAft>
                <a:spcPts val="800"/>
              </a:spcAft>
            </a:pPr>
            <a:r>
              <a:rPr lang="en-IN" sz="1100">
                <a:effectLst/>
                <a:latin typeface="Calibri" panose="020F0502020204030204" pitchFamily="34" charset="0"/>
                <a:ea typeface="Calibri" panose="020F0502020204030204" pitchFamily="34" charset="0"/>
                <a:cs typeface="Times New Roman" panose="02020603050405020304" pitchFamily="18" charset="0"/>
              </a:rPr>
              <a:t> </a:t>
            </a:r>
          </a:p>
        </p:txBody>
      </p:sp>
      <p:cxnSp>
        <p:nvCxnSpPr>
          <p:cNvPr id="113" name="Straight Arrow Connector 112"/>
          <p:cNvCxnSpPr/>
          <p:nvPr/>
        </p:nvCxnSpPr>
        <p:spPr>
          <a:xfrm>
            <a:off x="6201530" y="4235379"/>
            <a:ext cx="11556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4" name="TextBox 1"/>
          <p:cNvSpPr txBox="1"/>
          <p:nvPr/>
        </p:nvSpPr>
        <p:spPr>
          <a:xfrm>
            <a:off x="7758341" y="4376542"/>
            <a:ext cx="922020" cy="266700"/>
          </a:xfrm>
          <a:prstGeom prst="rect">
            <a:avLst/>
          </a:prstGeom>
          <a:noFill/>
        </p:spPr>
        <p:txBody>
          <a:bodyPr wrap="square" rtlCol="0">
            <a:spAutoFit/>
          </a:bodyPr>
          <a:lstStyle/>
          <a:p>
            <a:pPr>
              <a:spcAft>
                <a:spcPts val="0"/>
              </a:spcAft>
            </a:pPr>
            <a:r>
              <a:rPr lang="en-US" sz="1200" dirty="0">
                <a:effectLst/>
                <a:latin typeface="Times New Roman" panose="02020603050405020304" pitchFamily="18" charset="0"/>
                <a:ea typeface="Times New Roman" panose="02020603050405020304" pitchFamily="18" charset="0"/>
              </a:rPr>
              <a:t>Supervised</a:t>
            </a:r>
            <a:endParaRPr lang="en-IN" sz="1200" dirty="0">
              <a:effectLst/>
              <a:latin typeface="Times New Roman" panose="02020603050405020304" pitchFamily="18" charset="0"/>
              <a:ea typeface="Times New Roman" panose="02020603050405020304" pitchFamily="18" charset="0"/>
            </a:endParaRPr>
          </a:p>
        </p:txBody>
      </p:sp>
      <p:cxnSp>
        <p:nvCxnSpPr>
          <p:cNvPr id="115" name="Straight Arrow Connector 114"/>
          <p:cNvCxnSpPr/>
          <p:nvPr/>
        </p:nvCxnSpPr>
        <p:spPr>
          <a:xfrm>
            <a:off x="7621900" y="4720860"/>
            <a:ext cx="11556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2"/>
          <a:stretch>
            <a:fillRect/>
          </a:stretch>
        </p:blipFill>
        <p:spPr>
          <a:xfrm>
            <a:off x="428068" y="1690997"/>
            <a:ext cx="1158393" cy="1158393"/>
          </a:xfrm>
          <a:prstGeom prst="rect">
            <a:avLst/>
          </a:prstGeom>
        </p:spPr>
      </p:pic>
      <p:cxnSp>
        <p:nvCxnSpPr>
          <p:cNvPr id="5" name="Straight Connector 4"/>
          <p:cNvCxnSpPr/>
          <p:nvPr/>
        </p:nvCxnSpPr>
        <p:spPr>
          <a:xfrm flipH="1">
            <a:off x="976992" y="2811095"/>
            <a:ext cx="16253" cy="36642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993245" y="4064467"/>
            <a:ext cx="216028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993245" y="5404060"/>
            <a:ext cx="213455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334032" y="3783440"/>
            <a:ext cx="1977212" cy="369332"/>
          </a:xfrm>
          <a:prstGeom prst="rect">
            <a:avLst/>
          </a:prstGeom>
        </p:spPr>
        <p:txBody>
          <a:bodyPr wrap="square">
            <a:spAutoFit/>
          </a:bodyPr>
          <a:lstStyle/>
          <a:p>
            <a:r>
              <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Uploading Data</a:t>
            </a:r>
            <a:endParaRPr lang="en-IN" dirty="0"/>
          </a:p>
        </p:txBody>
      </p:sp>
      <p:sp>
        <p:nvSpPr>
          <p:cNvPr id="15" name="Rectangle 14"/>
          <p:cNvSpPr/>
          <p:nvPr/>
        </p:nvSpPr>
        <p:spPr>
          <a:xfrm>
            <a:off x="973971" y="5034728"/>
            <a:ext cx="2307042" cy="369332"/>
          </a:xfrm>
          <a:prstGeom prst="rect">
            <a:avLst/>
          </a:prstGeom>
        </p:spPr>
        <p:txBody>
          <a:bodyPr wrap="none">
            <a:spAutoFit/>
          </a:bodyPr>
          <a:lstStyle/>
          <a:p>
            <a:r>
              <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Successfully Uploaded</a:t>
            </a:r>
            <a:endParaRPr lang="en-IN" dirty="0"/>
          </a:p>
        </p:txBody>
      </p:sp>
    </p:spTree>
    <p:extLst>
      <p:ext uri="{BB962C8B-B14F-4D97-AF65-F5344CB8AC3E}">
        <p14:creationId xmlns:p14="http://schemas.microsoft.com/office/powerpoint/2010/main" val="190250936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a:xfrm>
            <a:off x="3845284" y="490456"/>
            <a:ext cx="4483087" cy="584775"/>
          </a:xfrm>
          <a:prstGeom prst="rect">
            <a:avLst/>
          </a:prstGeom>
        </p:spPr>
        <p:txBody>
          <a:bodyPr wrap="none">
            <a:spAutoFit/>
          </a:bodyPr>
          <a:lstStyle/>
          <a:p>
            <a:pPr algn="ctr"/>
            <a:r>
              <a:rPr lang="en-IN" sz="3200" b="1" dirty="0" smtClean="0">
                <a:latin typeface="Times New Roman" panose="02020603050405020304" pitchFamily="18" charset="0"/>
                <a:cs typeface="Times New Roman" panose="02020603050405020304" pitchFamily="18" charset="0"/>
              </a:rPr>
              <a:t>ACTIVITY DIAGRAM </a:t>
            </a:r>
            <a:endParaRPr lang="en-IN" sz="3200" dirty="0"/>
          </a:p>
        </p:txBody>
      </p:sp>
      <p:sp>
        <p:nvSpPr>
          <p:cNvPr id="21" name="Rectangle 20"/>
          <p:cNvSpPr/>
          <p:nvPr/>
        </p:nvSpPr>
        <p:spPr>
          <a:xfrm>
            <a:off x="271463" y="158135"/>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 name="Oval 1"/>
          <p:cNvSpPr/>
          <p:nvPr/>
        </p:nvSpPr>
        <p:spPr>
          <a:xfrm>
            <a:off x="5615189" y="1184856"/>
            <a:ext cx="115910" cy="1030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ounded Rectangle 3"/>
          <p:cNvSpPr/>
          <p:nvPr/>
        </p:nvSpPr>
        <p:spPr>
          <a:xfrm>
            <a:off x="5029200" y="1407552"/>
            <a:ext cx="1287888" cy="46363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Start</a:t>
            </a:r>
            <a:endParaRPr lang="en-IN" dirty="0"/>
          </a:p>
        </p:txBody>
      </p:sp>
      <p:cxnSp>
        <p:nvCxnSpPr>
          <p:cNvPr id="10" name="Straight Connector 9"/>
          <p:cNvCxnSpPr>
            <a:stCxn id="2" idx="0"/>
            <a:endCxn id="4" idx="0"/>
          </p:cNvCxnSpPr>
          <p:nvPr/>
        </p:nvCxnSpPr>
        <p:spPr>
          <a:xfrm>
            <a:off x="5673144" y="1184856"/>
            <a:ext cx="0" cy="2226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4" idx="2"/>
          </p:cNvCxnSpPr>
          <p:nvPr/>
        </p:nvCxnSpPr>
        <p:spPr>
          <a:xfrm>
            <a:off x="5673144" y="1871191"/>
            <a:ext cx="0" cy="2409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ounded Rectangle 25"/>
          <p:cNvSpPr/>
          <p:nvPr/>
        </p:nvSpPr>
        <p:spPr>
          <a:xfrm>
            <a:off x="2897746" y="2846231"/>
            <a:ext cx="1107584" cy="5051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Data Loading</a:t>
            </a:r>
            <a:endParaRPr lang="en-IN" sz="1000" dirty="0">
              <a:latin typeface="Times New Roman" panose="02020603050405020304" pitchFamily="18" charset="0"/>
              <a:ea typeface="Times New Roman" panose="02020603050405020304" pitchFamily="18" charset="0"/>
            </a:endParaRPr>
          </a:p>
        </p:txBody>
      </p:sp>
      <p:cxnSp>
        <p:nvCxnSpPr>
          <p:cNvPr id="29" name="Elbow Connector 28"/>
          <p:cNvCxnSpPr>
            <a:stCxn id="32" idx="2"/>
            <a:endCxn id="26" idx="0"/>
          </p:cNvCxnSpPr>
          <p:nvPr/>
        </p:nvCxnSpPr>
        <p:spPr>
          <a:xfrm rot="5400000">
            <a:off x="4149121" y="1437411"/>
            <a:ext cx="711237" cy="210640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5076893" y="2089275"/>
            <a:ext cx="962093"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8" name="Straight Arrow Connector 57"/>
          <p:cNvCxnSpPr/>
          <p:nvPr/>
        </p:nvCxnSpPr>
        <p:spPr>
          <a:xfrm>
            <a:off x="5885645" y="2134993"/>
            <a:ext cx="0" cy="595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Rounded Rectangle 58"/>
          <p:cNvSpPr/>
          <p:nvPr/>
        </p:nvSpPr>
        <p:spPr>
          <a:xfrm>
            <a:off x="5303228" y="2788276"/>
            <a:ext cx="1164833" cy="62107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smtClean="0">
                <a:solidFill>
                  <a:schemeClr val="tx1"/>
                </a:solidFill>
                <a:latin typeface="Times New Roman" panose="02020603050405020304" pitchFamily="18" charset="0"/>
                <a:cs typeface="Times New Roman" panose="02020603050405020304" pitchFamily="18" charset="0"/>
              </a:rPr>
              <a:t>Dataset</a:t>
            </a:r>
            <a:endParaRPr lang="en-IN" sz="1000" dirty="0">
              <a:solidFill>
                <a:schemeClr val="tx1"/>
              </a:solidFill>
              <a:latin typeface="Times New Roman" panose="02020603050405020304" pitchFamily="18" charset="0"/>
              <a:cs typeface="Times New Roman" panose="02020603050405020304" pitchFamily="18" charset="0"/>
            </a:endParaRPr>
          </a:p>
        </p:txBody>
      </p:sp>
      <p:sp>
        <p:nvSpPr>
          <p:cNvPr id="60" name="Flowchart: Decision 59"/>
          <p:cNvSpPr/>
          <p:nvPr/>
        </p:nvSpPr>
        <p:spPr>
          <a:xfrm>
            <a:off x="3239036" y="3721994"/>
            <a:ext cx="425003" cy="340635"/>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Rounded Rectangle 60"/>
          <p:cNvSpPr/>
          <p:nvPr/>
        </p:nvSpPr>
        <p:spPr>
          <a:xfrm>
            <a:off x="1979322" y="4255809"/>
            <a:ext cx="1120462" cy="5744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Times New Roman" panose="02020603050405020304" pitchFamily="18" charset="0"/>
                <a:cs typeface="Times New Roman" panose="02020603050405020304" pitchFamily="18" charset="0"/>
              </a:rPr>
              <a:t>Random </a:t>
            </a:r>
            <a:r>
              <a:rPr lang="en-US" sz="1000" dirty="0" smtClean="0">
                <a:solidFill>
                  <a:schemeClr val="tx1"/>
                </a:solidFill>
                <a:latin typeface="Times New Roman" panose="02020603050405020304" pitchFamily="18" charset="0"/>
                <a:cs typeface="Times New Roman" panose="02020603050405020304" pitchFamily="18" charset="0"/>
              </a:rPr>
              <a:t>Forests</a:t>
            </a:r>
            <a:endParaRPr lang="en-IN" sz="1000" dirty="0">
              <a:solidFill>
                <a:schemeClr val="tx1"/>
              </a:solidFill>
              <a:latin typeface="Times New Roman" panose="02020603050405020304" pitchFamily="18" charset="0"/>
              <a:cs typeface="Times New Roman" panose="02020603050405020304" pitchFamily="18" charset="0"/>
            </a:endParaRPr>
          </a:p>
        </p:txBody>
      </p:sp>
      <p:sp>
        <p:nvSpPr>
          <p:cNvPr id="62" name="Rounded Rectangle 61"/>
          <p:cNvSpPr/>
          <p:nvPr/>
        </p:nvSpPr>
        <p:spPr>
          <a:xfrm>
            <a:off x="3888110" y="4156865"/>
            <a:ext cx="1188783" cy="76533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Times New Roman" panose="02020603050405020304" pitchFamily="18" charset="0"/>
                <a:cs typeface="Times New Roman" panose="02020603050405020304" pitchFamily="18" charset="0"/>
              </a:rPr>
              <a:t>Gradient Boosting Machines (GBM)</a:t>
            </a:r>
            <a:endParaRPr lang="en-IN" sz="1000" dirty="0">
              <a:solidFill>
                <a:schemeClr val="tx1"/>
              </a:solidFill>
              <a:latin typeface="Times New Roman" panose="02020603050405020304" pitchFamily="18" charset="0"/>
              <a:cs typeface="Times New Roman" panose="02020603050405020304" pitchFamily="18" charset="0"/>
            </a:endParaRPr>
          </a:p>
        </p:txBody>
      </p:sp>
      <p:sp>
        <p:nvSpPr>
          <p:cNvPr id="63" name="Flowchart: Decision 62"/>
          <p:cNvSpPr/>
          <p:nvPr/>
        </p:nvSpPr>
        <p:spPr>
          <a:xfrm>
            <a:off x="3239036" y="5142652"/>
            <a:ext cx="425003" cy="321972"/>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5" name="Straight Arrow Connector 64"/>
          <p:cNvCxnSpPr>
            <a:stCxn id="26" idx="2"/>
            <a:endCxn id="60" idx="0"/>
          </p:cNvCxnSpPr>
          <p:nvPr/>
        </p:nvCxnSpPr>
        <p:spPr>
          <a:xfrm>
            <a:off x="3451538" y="3351391"/>
            <a:ext cx="0" cy="3706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Elbow Connector 66"/>
          <p:cNvCxnSpPr>
            <a:stCxn id="60" idx="1"/>
            <a:endCxn id="61" idx="0"/>
          </p:cNvCxnSpPr>
          <p:nvPr/>
        </p:nvCxnSpPr>
        <p:spPr>
          <a:xfrm rot="10800000" flipV="1">
            <a:off x="2539554" y="3892311"/>
            <a:ext cx="699483" cy="36349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Elbow Connector 68"/>
          <p:cNvCxnSpPr>
            <a:stCxn id="60" idx="3"/>
            <a:endCxn id="62" idx="0"/>
          </p:cNvCxnSpPr>
          <p:nvPr/>
        </p:nvCxnSpPr>
        <p:spPr>
          <a:xfrm>
            <a:off x="3664039" y="3892312"/>
            <a:ext cx="818463" cy="26455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Elbow Connector 71"/>
          <p:cNvCxnSpPr>
            <a:stCxn id="61" idx="2"/>
            <a:endCxn id="63" idx="1"/>
          </p:cNvCxnSpPr>
          <p:nvPr/>
        </p:nvCxnSpPr>
        <p:spPr>
          <a:xfrm rot="16200000" flipH="1">
            <a:off x="2652620" y="4717221"/>
            <a:ext cx="473349" cy="69948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Elbow Connector 73"/>
          <p:cNvCxnSpPr>
            <a:stCxn id="62" idx="2"/>
            <a:endCxn id="63" idx="3"/>
          </p:cNvCxnSpPr>
          <p:nvPr/>
        </p:nvCxnSpPr>
        <p:spPr>
          <a:xfrm rot="5400000">
            <a:off x="3882554" y="4703690"/>
            <a:ext cx="381434" cy="8184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Rounded Rectangle 76"/>
          <p:cNvSpPr/>
          <p:nvPr/>
        </p:nvSpPr>
        <p:spPr>
          <a:xfrm>
            <a:off x="7659256" y="3721994"/>
            <a:ext cx="1571223" cy="7191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Prediction</a:t>
            </a:r>
            <a:endParaRPr lang="en-IN" sz="1000" dirty="0"/>
          </a:p>
        </p:txBody>
      </p:sp>
      <p:sp>
        <p:nvSpPr>
          <p:cNvPr id="78" name="Rectangle 77"/>
          <p:cNvSpPr/>
          <p:nvPr/>
        </p:nvSpPr>
        <p:spPr>
          <a:xfrm>
            <a:off x="7181405" y="5044695"/>
            <a:ext cx="1523530"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Elbow Connector 11"/>
          <p:cNvCxnSpPr>
            <a:stCxn id="63" idx="2"/>
            <a:endCxn id="78" idx="0"/>
          </p:cNvCxnSpPr>
          <p:nvPr/>
        </p:nvCxnSpPr>
        <p:spPr>
          <a:xfrm rot="5400000" flipH="1" flipV="1">
            <a:off x="5487389" y="3008844"/>
            <a:ext cx="419929" cy="4491632"/>
          </a:xfrm>
          <a:prstGeom prst="bentConnector5">
            <a:avLst>
              <a:gd name="adj1" fmla="val -54438"/>
              <a:gd name="adj2" fmla="val 43886"/>
              <a:gd name="adj3" fmla="val 15443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77" idx="2"/>
          </p:cNvCxnSpPr>
          <p:nvPr/>
        </p:nvCxnSpPr>
        <p:spPr>
          <a:xfrm>
            <a:off x="8444868" y="4441110"/>
            <a:ext cx="3673" cy="6035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ounded Rectangle 22"/>
          <p:cNvSpPr/>
          <p:nvPr/>
        </p:nvSpPr>
        <p:spPr>
          <a:xfrm>
            <a:off x="7659256" y="5464624"/>
            <a:ext cx="1045679" cy="3437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b="1" dirty="0" smtClean="0">
              <a:latin typeface="Times New Roman" panose="02020603050405020304" pitchFamily="18" charset="0"/>
              <a:cs typeface="Times New Roman" panose="02020603050405020304" pitchFamily="18" charset="0"/>
            </a:endParaRPr>
          </a:p>
          <a:p>
            <a:pPr algn="ctr"/>
            <a:r>
              <a:rPr lang="en-IN" sz="900" dirty="0" smtClean="0">
                <a:solidFill>
                  <a:schemeClr val="tx1"/>
                </a:solidFill>
                <a:latin typeface="Times New Roman" panose="02020603050405020304" pitchFamily="18" charset="0"/>
                <a:cs typeface="Times New Roman" panose="02020603050405020304" pitchFamily="18" charset="0"/>
              </a:rPr>
              <a:t>Prediction</a:t>
            </a:r>
            <a:endParaRPr lang="en-IN" sz="900" dirty="0">
              <a:solidFill>
                <a:schemeClr val="tx1"/>
              </a:solidFill>
              <a:latin typeface="Times New Roman" panose="02020603050405020304" pitchFamily="18" charset="0"/>
              <a:cs typeface="Times New Roman" panose="02020603050405020304" pitchFamily="18" charset="0"/>
            </a:endParaRPr>
          </a:p>
          <a:p>
            <a:pPr algn="ctr">
              <a:spcAft>
                <a:spcPts val="0"/>
              </a:spcAft>
            </a:pPr>
            <a:endParaRPr lang="en-IN" sz="1000" dirty="0">
              <a:latin typeface="Times New Roman" panose="02020603050405020304" pitchFamily="18" charset="0"/>
              <a:ea typeface="Times New Roman" panose="02020603050405020304" pitchFamily="18" charset="0"/>
            </a:endParaRPr>
          </a:p>
        </p:txBody>
      </p:sp>
      <p:sp>
        <p:nvSpPr>
          <p:cNvPr id="24" name="Oval 23"/>
          <p:cNvSpPr/>
          <p:nvPr/>
        </p:nvSpPr>
        <p:spPr>
          <a:xfrm>
            <a:off x="8031570" y="6081944"/>
            <a:ext cx="318299" cy="3885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p:cNvSpPr/>
          <p:nvPr/>
        </p:nvSpPr>
        <p:spPr>
          <a:xfrm>
            <a:off x="8102520" y="6179080"/>
            <a:ext cx="159150" cy="19427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1" name="Straight Arrow Connector 30"/>
          <p:cNvCxnSpPr>
            <a:endCxn id="23" idx="0"/>
          </p:cNvCxnSpPr>
          <p:nvPr/>
        </p:nvCxnSpPr>
        <p:spPr>
          <a:xfrm>
            <a:off x="8182095" y="5090414"/>
            <a:ext cx="1" cy="3742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3" idx="2"/>
            <a:endCxn id="24" idx="0"/>
          </p:cNvCxnSpPr>
          <p:nvPr/>
        </p:nvCxnSpPr>
        <p:spPr>
          <a:xfrm>
            <a:off x="8182096" y="5808372"/>
            <a:ext cx="8624" cy="273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26" idx="3"/>
            <a:endCxn id="59" idx="1"/>
          </p:cNvCxnSpPr>
          <p:nvPr/>
        </p:nvCxnSpPr>
        <p:spPr>
          <a:xfrm>
            <a:off x="4005330" y="3098811"/>
            <a:ext cx="12978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Rounded Rectangle 39"/>
          <p:cNvSpPr/>
          <p:nvPr/>
        </p:nvSpPr>
        <p:spPr>
          <a:xfrm>
            <a:off x="7727959" y="2641972"/>
            <a:ext cx="1433816" cy="958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dirty="0">
                <a:solidFill>
                  <a:schemeClr val="tx1"/>
                </a:solidFill>
                <a:latin typeface="Times New Roman" panose="02020603050405020304" pitchFamily="18" charset="0"/>
                <a:cs typeface="Times New Roman" panose="02020603050405020304" pitchFamily="18" charset="0"/>
              </a:rPr>
              <a:t>Handling Missing Values</a:t>
            </a:r>
            <a:r>
              <a:rPr lang="en-IN" sz="900" dirty="0">
                <a:solidFill>
                  <a:schemeClr val="tx1"/>
                </a:solidFill>
                <a:latin typeface="Times New Roman" panose="02020603050405020304" pitchFamily="18" charset="0"/>
                <a:cs typeface="Times New Roman" panose="02020603050405020304" pitchFamily="18" charset="0"/>
              </a:rPr>
              <a:t>,</a:t>
            </a:r>
            <a:r>
              <a:rPr lang="en-US" sz="900" dirty="0">
                <a:solidFill>
                  <a:schemeClr val="tx1"/>
                </a:solidFill>
                <a:latin typeface="Times New Roman" panose="02020603050405020304" pitchFamily="18" charset="0"/>
                <a:cs typeface="Times New Roman" panose="02020603050405020304" pitchFamily="18" charset="0"/>
              </a:rPr>
              <a:t>Feature Scaling</a:t>
            </a:r>
            <a:endParaRPr lang="en-IN" sz="900" dirty="0">
              <a:solidFill>
                <a:schemeClr val="tx1"/>
              </a:solidFill>
              <a:latin typeface="Times New Roman" panose="02020603050405020304" pitchFamily="18" charset="0"/>
              <a:cs typeface="Times New Roman" panose="02020603050405020304" pitchFamily="18" charset="0"/>
            </a:endParaRPr>
          </a:p>
          <a:p>
            <a:r>
              <a:rPr lang="en-US" sz="900" dirty="0">
                <a:solidFill>
                  <a:schemeClr val="tx1"/>
                </a:solidFill>
                <a:latin typeface="Times New Roman" panose="02020603050405020304" pitchFamily="18" charset="0"/>
                <a:cs typeface="Times New Roman" panose="02020603050405020304" pitchFamily="18" charset="0"/>
              </a:rPr>
              <a:t>Feature Engineering</a:t>
            </a:r>
            <a:r>
              <a:rPr lang="en-IN" sz="900" dirty="0">
                <a:solidFill>
                  <a:schemeClr val="tx1"/>
                </a:solidFill>
                <a:latin typeface="Times New Roman" panose="02020603050405020304" pitchFamily="18" charset="0"/>
                <a:cs typeface="Times New Roman" panose="02020603050405020304" pitchFamily="18" charset="0"/>
              </a:rPr>
              <a:t>,</a:t>
            </a:r>
            <a:r>
              <a:rPr lang="en-US" sz="900" dirty="0">
                <a:solidFill>
                  <a:schemeClr val="tx1"/>
                </a:solidFill>
                <a:latin typeface="Times New Roman" panose="02020603050405020304" pitchFamily="18" charset="0"/>
                <a:cs typeface="Times New Roman" panose="02020603050405020304" pitchFamily="18" charset="0"/>
              </a:rPr>
              <a:t>Encoding Categorical Variables,</a:t>
            </a:r>
            <a:endParaRPr lang="en-IN" sz="900" dirty="0">
              <a:solidFill>
                <a:schemeClr val="tx1"/>
              </a:solidFill>
              <a:latin typeface="Times New Roman" panose="02020603050405020304" pitchFamily="18" charset="0"/>
              <a:cs typeface="Times New Roman" panose="02020603050405020304" pitchFamily="18" charset="0"/>
            </a:endParaRPr>
          </a:p>
          <a:p>
            <a:r>
              <a:rPr lang="en-US" sz="900" dirty="0">
                <a:solidFill>
                  <a:schemeClr val="tx1"/>
                </a:solidFill>
                <a:latin typeface="Times New Roman" panose="02020603050405020304" pitchFamily="18" charset="0"/>
                <a:cs typeface="Times New Roman" panose="02020603050405020304" pitchFamily="18" charset="0"/>
              </a:rPr>
              <a:t>Outliers Detection</a:t>
            </a:r>
            <a:endParaRPr lang="en-IN" sz="900" dirty="0">
              <a:solidFill>
                <a:schemeClr val="tx1"/>
              </a:solidFill>
              <a:effectLst/>
              <a:latin typeface="Times New Roman" panose="02020603050405020304" pitchFamily="18" charset="0"/>
              <a:cs typeface="Times New Roman" panose="02020603050405020304" pitchFamily="18" charset="0"/>
            </a:endParaRPr>
          </a:p>
        </p:txBody>
      </p:sp>
      <p:cxnSp>
        <p:nvCxnSpPr>
          <p:cNvPr id="43" name="Straight Arrow Connector 42"/>
          <p:cNvCxnSpPr>
            <a:stCxn id="59" idx="3"/>
            <a:endCxn id="40" idx="1"/>
          </p:cNvCxnSpPr>
          <p:nvPr/>
        </p:nvCxnSpPr>
        <p:spPr>
          <a:xfrm>
            <a:off x="6468061" y="3098811"/>
            <a:ext cx="1259898" cy="22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40" idx="2"/>
            <a:endCxn id="77" idx="0"/>
          </p:cNvCxnSpPr>
          <p:nvPr/>
        </p:nvCxnSpPr>
        <p:spPr>
          <a:xfrm>
            <a:off x="8444867" y="3600381"/>
            <a:ext cx="1" cy="1216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67665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a:xfrm>
            <a:off x="4029560" y="29433"/>
            <a:ext cx="3765774" cy="584775"/>
          </a:xfrm>
          <a:prstGeom prst="rect">
            <a:avLst/>
          </a:prstGeom>
        </p:spPr>
        <p:txBody>
          <a:bodyPr wrap="none">
            <a:spAutoFit/>
          </a:bodyPr>
          <a:lstStyle/>
          <a:p>
            <a:pPr algn="ctr"/>
            <a:r>
              <a:rPr lang="en-IN" sz="3200" b="1" dirty="0" smtClean="0">
                <a:latin typeface="Times New Roman" panose="02020603050405020304" pitchFamily="18" charset="0"/>
                <a:cs typeface="Times New Roman" panose="02020603050405020304" pitchFamily="18" charset="0"/>
              </a:rPr>
              <a:t>CLASS DIAGRAM </a:t>
            </a:r>
            <a:endParaRPr lang="en-IN" sz="3200" dirty="0"/>
          </a:p>
        </p:txBody>
      </p:sp>
      <p:sp>
        <p:nvSpPr>
          <p:cNvPr id="21" name="Rectangle 20"/>
          <p:cNvSpPr/>
          <p:nvPr/>
        </p:nvSpPr>
        <p:spPr>
          <a:xfrm>
            <a:off x="207362" y="394951"/>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1841679" y="2120652"/>
            <a:ext cx="1081825" cy="1339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5" name="Straight Connector 4"/>
          <p:cNvCxnSpPr/>
          <p:nvPr/>
        </p:nvCxnSpPr>
        <p:spPr>
          <a:xfrm>
            <a:off x="1841679" y="2550017"/>
            <a:ext cx="10818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137892" y="2211117"/>
            <a:ext cx="914400" cy="246221"/>
          </a:xfrm>
          <a:prstGeom prst="rect">
            <a:avLst/>
          </a:prstGeom>
          <a:noFill/>
        </p:spPr>
        <p:txBody>
          <a:bodyPr wrap="square" rtlCol="0">
            <a:spAutoFit/>
          </a:bodyPr>
          <a:lstStyle/>
          <a:p>
            <a:r>
              <a:rPr lang="en-US" sz="1000" dirty="0" smtClean="0"/>
              <a:t>Start</a:t>
            </a:r>
            <a:endParaRPr lang="en-IN" dirty="0"/>
          </a:p>
        </p:txBody>
      </p:sp>
      <p:sp>
        <p:nvSpPr>
          <p:cNvPr id="14" name="Rectangle 13"/>
          <p:cNvSpPr/>
          <p:nvPr/>
        </p:nvSpPr>
        <p:spPr>
          <a:xfrm>
            <a:off x="2047740" y="2683393"/>
            <a:ext cx="875764" cy="400110"/>
          </a:xfrm>
          <a:prstGeom prst="rect">
            <a:avLst/>
          </a:prstGeom>
        </p:spPr>
        <p:txBody>
          <a:bodyPr wrap="square">
            <a:spAutoFit/>
          </a:bodyPr>
          <a:lstStyle/>
          <a:p>
            <a:r>
              <a:rPr lang="en-US" sz="1000" dirty="0" smtClean="0"/>
              <a:t>Data Selection</a:t>
            </a:r>
            <a:endParaRPr lang="en-IN" sz="1000" dirty="0"/>
          </a:p>
        </p:txBody>
      </p:sp>
      <p:sp>
        <p:nvSpPr>
          <p:cNvPr id="52" name="Rectangle 51"/>
          <p:cNvSpPr/>
          <p:nvPr/>
        </p:nvSpPr>
        <p:spPr>
          <a:xfrm>
            <a:off x="1841678" y="3906454"/>
            <a:ext cx="1081825" cy="1339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54" name="Straight Connector 53"/>
          <p:cNvCxnSpPr/>
          <p:nvPr/>
        </p:nvCxnSpPr>
        <p:spPr>
          <a:xfrm>
            <a:off x="1839532" y="4338034"/>
            <a:ext cx="10818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2028422" y="3937924"/>
            <a:ext cx="914400" cy="400110"/>
          </a:xfrm>
          <a:prstGeom prst="rect">
            <a:avLst/>
          </a:prstGeom>
          <a:noFill/>
        </p:spPr>
        <p:txBody>
          <a:bodyPr wrap="square" rtlCol="0">
            <a:spAutoFit/>
          </a:bodyPr>
          <a:lstStyle/>
          <a:p>
            <a:r>
              <a:rPr lang="en-US" sz="1000" dirty="0"/>
              <a:t>Data Selection</a:t>
            </a:r>
            <a:endParaRPr lang="en-IN" sz="1000" dirty="0"/>
          </a:p>
        </p:txBody>
      </p:sp>
      <p:sp>
        <p:nvSpPr>
          <p:cNvPr id="80" name="TextBox 79"/>
          <p:cNvSpPr txBox="1"/>
          <p:nvPr/>
        </p:nvSpPr>
        <p:spPr>
          <a:xfrm>
            <a:off x="2008030" y="4569559"/>
            <a:ext cx="914400" cy="246221"/>
          </a:xfrm>
          <a:prstGeom prst="rect">
            <a:avLst/>
          </a:prstGeom>
          <a:noFill/>
        </p:spPr>
        <p:txBody>
          <a:bodyPr wrap="square" rtlCol="0">
            <a:spAutoFit/>
          </a:bodyPr>
          <a:lstStyle/>
          <a:p>
            <a:r>
              <a:rPr lang="en-US" sz="1000" dirty="0" smtClean="0"/>
              <a:t>Data Loading</a:t>
            </a:r>
            <a:endParaRPr lang="en-IN" sz="1000" dirty="0"/>
          </a:p>
        </p:txBody>
      </p:sp>
      <p:sp>
        <p:nvSpPr>
          <p:cNvPr id="81" name="Rectangle 80"/>
          <p:cNvSpPr/>
          <p:nvPr/>
        </p:nvSpPr>
        <p:spPr>
          <a:xfrm>
            <a:off x="4075035" y="2120652"/>
            <a:ext cx="1081825" cy="1339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82" name="Straight Connector 81"/>
          <p:cNvCxnSpPr/>
          <p:nvPr/>
        </p:nvCxnSpPr>
        <p:spPr>
          <a:xfrm>
            <a:off x="4075034" y="2550017"/>
            <a:ext cx="10818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4181453" y="2177676"/>
            <a:ext cx="914400" cy="400110"/>
          </a:xfrm>
          <a:prstGeom prst="rect">
            <a:avLst/>
          </a:prstGeom>
          <a:noFill/>
        </p:spPr>
        <p:txBody>
          <a:bodyPr wrap="square" rtlCol="0">
            <a:spAutoFit/>
          </a:bodyPr>
          <a:lstStyle/>
          <a:p>
            <a:pPr algn="ctr"/>
            <a:r>
              <a:rPr lang="en-US" sz="1000" dirty="0" smtClean="0"/>
              <a:t>Dataset Loading</a:t>
            </a:r>
            <a:endParaRPr lang="en-IN" sz="1000" dirty="0"/>
          </a:p>
        </p:txBody>
      </p:sp>
      <p:sp>
        <p:nvSpPr>
          <p:cNvPr id="85" name="TextBox 84"/>
          <p:cNvSpPr txBox="1"/>
          <p:nvPr/>
        </p:nvSpPr>
        <p:spPr>
          <a:xfrm>
            <a:off x="4198403" y="2932887"/>
            <a:ext cx="914400" cy="246221"/>
          </a:xfrm>
          <a:prstGeom prst="rect">
            <a:avLst/>
          </a:prstGeom>
          <a:noFill/>
        </p:spPr>
        <p:txBody>
          <a:bodyPr wrap="square" rtlCol="0">
            <a:spAutoFit/>
          </a:bodyPr>
          <a:lstStyle/>
          <a:p>
            <a:pPr algn="ctr"/>
            <a:r>
              <a:rPr lang="en-IN" sz="1000" dirty="0" smtClean="0"/>
              <a:t>Dataset</a:t>
            </a:r>
            <a:endParaRPr lang="en-IN" sz="1000" dirty="0">
              <a:latin typeface="Times New Roman" panose="02020603050405020304" pitchFamily="18" charset="0"/>
              <a:cs typeface="Times New Roman" panose="02020603050405020304" pitchFamily="18" charset="0"/>
            </a:endParaRPr>
          </a:p>
        </p:txBody>
      </p:sp>
      <p:sp>
        <p:nvSpPr>
          <p:cNvPr id="86" name="Rectangle 85"/>
          <p:cNvSpPr/>
          <p:nvPr/>
        </p:nvSpPr>
        <p:spPr>
          <a:xfrm>
            <a:off x="6228065" y="2120652"/>
            <a:ext cx="1081825" cy="1339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88" name="Straight Connector 87"/>
          <p:cNvCxnSpPr/>
          <p:nvPr/>
        </p:nvCxnSpPr>
        <p:spPr>
          <a:xfrm>
            <a:off x="6224676" y="2423701"/>
            <a:ext cx="10818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TextBox 88"/>
          <p:cNvSpPr txBox="1"/>
          <p:nvPr/>
        </p:nvSpPr>
        <p:spPr>
          <a:xfrm>
            <a:off x="6308391" y="2184845"/>
            <a:ext cx="914400" cy="246221"/>
          </a:xfrm>
          <a:prstGeom prst="rect">
            <a:avLst/>
          </a:prstGeom>
          <a:noFill/>
        </p:spPr>
        <p:txBody>
          <a:bodyPr wrap="square" rtlCol="0">
            <a:spAutoFit/>
          </a:bodyPr>
          <a:lstStyle/>
          <a:p>
            <a:pPr algn="ctr"/>
            <a:r>
              <a:rPr lang="en-US" sz="1000" dirty="0" smtClean="0"/>
              <a:t>Preprocessing</a:t>
            </a:r>
            <a:endParaRPr lang="en-IN" sz="1000" dirty="0"/>
          </a:p>
        </p:txBody>
      </p:sp>
      <p:sp>
        <p:nvSpPr>
          <p:cNvPr id="90" name="TextBox 89"/>
          <p:cNvSpPr txBox="1"/>
          <p:nvPr/>
        </p:nvSpPr>
        <p:spPr>
          <a:xfrm>
            <a:off x="6319084" y="2446137"/>
            <a:ext cx="1066324" cy="1231106"/>
          </a:xfrm>
          <a:prstGeom prst="rect">
            <a:avLst/>
          </a:prstGeom>
          <a:noFill/>
        </p:spPr>
        <p:txBody>
          <a:bodyPr wrap="square" rtlCol="0">
            <a:spAutoFit/>
          </a:bodyPr>
          <a:lstStyle/>
          <a:p>
            <a:r>
              <a:rPr lang="en-US" sz="800" dirty="0">
                <a:latin typeface="Times New Roman" panose="02020603050405020304" pitchFamily="18" charset="0"/>
                <a:cs typeface="Times New Roman" panose="02020603050405020304" pitchFamily="18" charset="0"/>
              </a:rPr>
              <a:t>Handling Missing Values</a:t>
            </a:r>
            <a:r>
              <a:rPr lang="en-IN" sz="800" dirty="0">
                <a:latin typeface="Times New Roman" panose="02020603050405020304" pitchFamily="18" charset="0"/>
                <a:cs typeface="Times New Roman" panose="02020603050405020304" pitchFamily="18" charset="0"/>
              </a:rPr>
              <a:t>,</a:t>
            </a:r>
            <a:r>
              <a:rPr lang="en-US" sz="800" dirty="0">
                <a:latin typeface="Times New Roman" panose="02020603050405020304" pitchFamily="18" charset="0"/>
                <a:cs typeface="Times New Roman" panose="02020603050405020304" pitchFamily="18" charset="0"/>
              </a:rPr>
              <a:t>Feature Scaling</a:t>
            </a:r>
            <a:endParaRPr lang="en-IN" sz="800" dirty="0">
              <a:latin typeface="Times New Roman" panose="02020603050405020304" pitchFamily="18" charset="0"/>
              <a:cs typeface="Times New Roman" panose="02020603050405020304" pitchFamily="18" charset="0"/>
            </a:endParaRPr>
          </a:p>
          <a:p>
            <a:r>
              <a:rPr lang="en-US" sz="800" dirty="0">
                <a:latin typeface="Times New Roman" panose="02020603050405020304" pitchFamily="18" charset="0"/>
                <a:cs typeface="Times New Roman" panose="02020603050405020304" pitchFamily="18" charset="0"/>
              </a:rPr>
              <a:t>Feature Engineering</a:t>
            </a:r>
            <a:r>
              <a:rPr lang="en-IN" sz="800" dirty="0">
                <a:latin typeface="Times New Roman" panose="02020603050405020304" pitchFamily="18" charset="0"/>
                <a:cs typeface="Times New Roman" panose="02020603050405020304" pitchFamily="18" charset="0"/>
              </a:rPr>
              <a:t>,</a:t>
            </a:r>
            <a:r>
              <a:rPr lang="en-US" sz="800" dirty="0">
                <a:latin typeface="Times New Roman" panose="02020603050405020304" pitchFamily="18" charset="0"/>
                <a:cs typeface="Times New Roman" panose="02020603050405020304" pitchFamily="18" charset="0"/>
              </a:rPr>
              <a:t>Encoding Categorical </a:t>
            </a:r>
            <a:r>
              <a:rPr lang="en-US" sz="800" dirty="0" smtClean="0">
                <a:latin typeface="Times New Roman" panose="02020603050405020304" pitchFamily="18" charset="0"/>
                <a:cs typeface="Times New Roman" panose="02020603050405020304" pitchFamily="18" charset="0"/>
              </a:rPr>
              <a:t>Variables, Outliers </a:t>
            </a:r>
            <a:r>
              <a:rPr lang="en-US" sz="800" dirty="0">
                <a:latin typeface="Times New Roman" panose="02020603050405020304" pitchFamily="18" charset="0"/>
                <a:cs typeface="Times New Roman" panose="02020603050405020304" pitchFamily="18" charset="0"/>
              </a:rPr>
              <a:t>Detection</a:t>
            </a:r>
            <a:endParaRPr lang="en-IN" sz="800" dirty="0">
              <a:latin typeface="Times New Roman" panose="02020603050405020304" pitchFamily="18" charset="0"/>
              <a:cs typeface="Times New Roman" panose="02020603050405020304" pitchFamily="18" charset="0"/>
            </a:endParaRPr>
          </a:p>
          <a:p>
            <a:pPr algn="ctr"/>
            <a:endParaRPr lang="en-IN" sz="1000" dirty="0">
              <a:latin typeface="Times New Roman" panose="02020603050405020304" pitchFamily="18" charset="0"/>
              <a:cs typeface="Times New Roman" panose="02020603050405020304" pitchFamily="18" charset="0"/>
            </a:endParaRPr>
          </a:p>
        </p:txBody>
      </p:sp>
      <p:sp>
        <p:nvSpPr>
          <p:cNvPr id="91" name="Rectangle 90"/>
          <p:cNvSpPr/>
          <p:nvPr/>
        </p:nvSpPr>
        <p:spPr>
          <a:xfrm>
            <a:off x="6224677" y="3924785"/>
            <a:ext cx="1081825" cy="1339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92" name="Straight Connector 91"/>
          <p:cNvCxnSpPr/>
          <p:nvPr/>
        </p:nvCxnSpPr>
        <p:spPr>
          <a:xfrm>
            <a:off x="6224677" y="4338034"/>
            <a:ext cx="10818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TextBox 92"/>
          <p:cNvSpPr txBox="1"/>
          <p:nvPr/>
        </p:nvSpPr>
        <p:spPr>
          <a:xfrm>
            <a:off x="6312571" y="4022966"/>
            <a:ext cx="914400" cy="246221"/>
          </a:xfrm>
          <a:prstGeom prst="rect">
            <a:avLst/>
          </a:prstGeom>
          <a:noFill/>
        </p:spPr>
        <p:txBody>
          <a:bodyPr wrap="square" rtlCol="0">
            <a:spAutoFit/>
          </a:bodyPr>
          <a:lstStyle/>
          <a:p>
            <a:pPr algn="ctr"/>
            <a:r>
              <a:rPr lang="en-US" sz="1000" dirty="0" smtClean="0"/>
              <a:t>Splitting</a:t>
            </a:r>
            <a:endParaRPr lang="en-IN" sz="1000" dirty="0"/>
          </a:p>
        </p:txBody>
      </p:sp>
      <p:sp>
        <p:nvSpPr>
          <p:cNvPr id="94" name="TextBox 93"/>
          <p:cNvSpPr txBox="1"/>
          <p:nvPr/>
        </p:nvSpPr>
        <p:spPr>
          <a:xfrm>
            <a:off x="6347027" y="4639007"/>
            <a:ext cx="914400" cy="400110"/>
          </a:xfrm>
          <a:prstGeom prst="rect">
            <a:avLst/>
          </a:prstGeom>
          <a:noFill/>
        </p:spPr>
        <p:txBody>
          <a:bodyPr wrap="square" rtlCol="0">
            <a:spAutoFit/>
          </a:bodyPr>
          <a:lstStyle/>
          <a:p>
            <a:pPr algn="ctr"/>
            <a:r>
              <a:rPr lang="en-US" sz="1000" dirty="0" smtClean="0"/>
              <a:t>Test Data and Train Data</a:t>
            </a:r>
            <a:endParaRPr lang="en-IN" sz="1000" dirty="0"/>
          </a:p>
        </p:txBody>
      </p:sp>
      <p:sp>
        <p:nvSpPr>
          <p:cNvPr id="95" name="Rectangle 94"/>
          <p:cNvSpPr/>
          <p:nvPr/>
        </p:nvSpPr>
        <p:spPr>
          <a:xfrm>
            <a:off x="8284169" y="2093226"/>
            <a:ext cx="1081825" cy="1339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96" name="Straight Connector 95"/>
          <p:cNvCxnSpPr/>
          <p:nvPr/>
        </p:nvCxnSpPr>
        <p:spPr>
          <a:xfrm>
            <a:off x="8284169" y="2547871"/>
            <a:ext cx="10818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8367881" y="2199916"/>
            <a:ext cx="914400" cy="246221"/>
          </a:xfrm>
          <a:prstGeom prst="rect">
            <a:avLst/>
          </a:prstGeom>
          <a:noFill/>
        </p:spPr>
        <p:txBody>
          <a:bodyPr wrap="square" rtlCol="0">
            <a:spAutoFit/>
          </a:bodyPr>
          <a:lstStyle/>
          <a:p>
            <a:pPr algn="ctr"/>
            <a:r>
              <a:rPr lang="en-US" sz="1000" dirty="0" smtClean="0"/>
              <a:t>Algorithm</a:t>
            </a:r>
            <a:endParaRPr lang="en-IN" sz="1000" dirty="0"/>
          </a:p>
        </p:txBody>
      </p:sp>
      <p:sp>
        <p:nvSpPr>
          <p:cNvPr id="98" name="TextBox 97"/>
          <p:cNvSpPr txBox="1"/>
          <p:nvPr/>
        </p:nvSpPr>
        <p:spPr>
          <a:xfrm>
            <a:off x="8412958" y="2724743"/>
            <a:ext cx="914400" cy="400110"/>
          </a:xfrm>
          <a:prstGeom prst="rect">
            <a:avLst/>
          </a:prstGeom>
          <a:noFill/>
        </p:spPr>
        <p:txBody>
          <a:bodyPr wrap="square" rtlCol="0">
            <a:spAutoFit/>
          </a:bodyPr>
          <a:lstStyle/>
          <a:p>
            <a:r>
              <a:rPr lang="en-US" sz="1000" dirty="0"/>
              <a:t>Random </a:t>
            </a:r>
            <a:r>
              <a:rPr lang="en-US" sz="1000" dirty="0" smtClean="0"/>
              <a:t>Forests</a:t>
            </a:r>
            <a:endParaRPr lang="en-IN" sz="1000" dirty="0"/>
          </a:p>
        </p:txBody>
      </p:sp>
      <p:sp>
        <p:nvSpPr>
          <p:cNvPr id="99" name="Rectangle 98"/>
          <p:cNvSpPr/>
          <p:nvPr/>
        </p:nvSpPr>
        <p:spPr>
          <a:xfrm>
            <a:off x="8284168" y="3853519"/>
            <a:ext cx="1081825" cy="1339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00" name="Straight Connector 99"/>
          <p:cNvCxnSpPr/>
          <p:nvPr/>
        </p:nvCxnSpPr>
        <p:spPr>
          <a:xfrm>
            <a:off x="8284167" y="4307984"/>
            <a:ext cx="10818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8367879" y="4014868"/>
            <a:ext cx="914400" cy="246221"/>
          </a:xfrm>
          <a:prstGeom prst="rect">
            <a:avLst/>
          </a:prstGeom>
          <a:noFill/>
        </p:spPr>
        <p:txBody>
          <a:bodyPr wrap="square" rtlCol="0">
            <a:spAutoFit/>
          </a:bodyPr>
          <a:lstStyle/>
          <a:p>
            <a:pPr algn="ctr"/>
            <a:r>
              <a:rPr lang="en-US" sz="1000" dirty="0" smtClean="0"/>
              <a:t>Algorithm</a:t>
            </a:r>
            <a:endParaRPr lang="en-IN" sz="1000" dirty="0"/>
          </a:p>
        </p:txBody>
      </p:sp>
      <p:sp>
        <p:nvSpPr>
          <p:cNvPr id="102" name="TextBox 101"/>
          <p:cNvSpPr txBox="1"/>
          <p:nvPr/>
        </p:nvSpPr>
        <p:spPr>
          <a:xfrm>
            <a:off x="8367879" y="4431134"/>
            <a:ext cx="914400" cy="861774"/>
          </a:xfrm>
          <a:prstGeom prst="rect">
            <a:avLst/>
          </a:prstGeom>
          <a:noFill/>
        </p:spPr>
        <p:txBody>
          <a:bodyPr wrap="square" rtlCol="0">
            <a:spAutoFit/>
          </a:bodyPr>
          <a:lstStyle/>
          <a:p>
            <a:r>
              <a:rPr lang="en-US" sz="1000" dirty="0"/>
              <a:t>Gradient Boosting Machines (GBM)</a:t>
            </a:r>
            <a:endParaRPr lang="en-IN" sz="1000" dirty="0"/>
          </a:p>
          <a:p>
            <a:pPr algn="ctr"/>
            <a:endParaRPr lang="en-IN" sz="1000" dirty="0"/>
          </a:p>
        </p:txBody>
      </p:sp>
      <p:sp>
        <p:nvSpPr>
          <p:cNvPr id="103" name="Rectangle 102"/>
          <p:cNvSpPr/>
          <p:nvPr/>
        </p:nvSpPr>
        <p:spPr>
          <a:xfrm>
            <a:off x="10075799" y="5317654"/>
            <a:ext cx="1081825" cy="1339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05" name="Straight Connector 104"/>
          <p:cNvCxnSpPr/>
          <p:nvPr/>
        </p:nvCxnSpPr>
        <p:spPr>
          <a:xfrm>
            <a:off x="10075799" y="5793656"/>
            <a:ext cx="10818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TextBox 106"/>
          <p:cNvSpPr txBox="1"/>
          <p:nvPr/>
        </p:nvSpPr>
        <p:spPr>
          <a:xfrm>
            <a:off x="10171047" y="5353444"/>
            <a:ext cx="914400" cy="400110"/>
          </a:xfrm>
          <a:prstGeom prst="rect">
            <a:avLst/>
          </a:prstGeom>
          <a:noFill/>
        </p:spPr>
        <p:txBody>
          <a:bodyPr wrap="square" rtlCol="0">
            <a:spAutoFit/>
          </a:bodyPr>
          <a:lstStyle/>
          <a:p>
            <a:pPr algn="ctr"/>
            <a:r>
              <a:rPr lang="en-US" sz="1000" dirty="0" smtClean="0"/>
              <a:t>Prediction</a:t>
            </a:r>
            <a:endParaRPr lang="en-IN" sz="1000" dirty="0"/>
          </a:p>
          <a:p>
            <a:pPr algn="ctr"/>
            <a:endParaRPr lang="en-IN" sz="1000" dirty="0"/>
          </a:p>
        </p:txBody>
      </p:sp>
      <p:sp>
        <p:nvSpPr>
          <p:cNvPr id="109" name="TextBox 108"/>
          <p:cNvSpPr txBox="1"/>
          <p:nvPr/>
        </p:nvSpPr>
        <p:spPr>
          <a:xfrm>
            <a:off x="10192279" y="5905200"/>
            <a:ext cx="914400" cy="246221"/>
          </a:xfrm>
          <a:prstGeom prst="rect">
            <a:avLst/>
          </a:prstGeom>
          <a:noFill/>
        </p:spPr>
        <p:txBody>
          <a:bodyPr wrap="square" rtlCol="0">
            <a:spAutoFit/>
          </a:bodyPr>
          <a:lstStyle/>
          <a:p>
            <a:pPr algn="ctr"/>
            <a:r>
              <a:rPr lang="en-US" sz="1000" dirty="0" smtClean="0"/>
              <a:t>Wine Quality</a:t>
            </a:r>
            <a:endParaRPr lang="en-IN" sz="1000" dirty="0"/>
          </a:p>
        </p:txBody>
      </p:sp>
      <p:cxnSp>
        <p:nvCxnSpPr>
          <p:cNvPr id="23" name="Straight Connector 22"/>
          <p:cNvCxnSpPr/>
          <p:nvPr/>
        </p:nvCxnSpPr>
        <p:spPr>
          <a:xfrm flipH="1">
            <a:off x="2942822" y="2334227"/>
            <a:ext cx="115153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3" idx="2"/>
            <a:endCxn id="52" idx="0"/>
          </p:cNvCxnSpPr>
          <p:nvPr/>
        </p:nvCxnSpPr>
        <p:spPr>
          <a:xfrm flipH="1">
            <a:off x="2382591" y="3460055"/>
            <a:ext cx="1" cy="446399"/>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81" idx="3"/>
            <a:endCxn id="86" idx="1"/>
          </p:cNvCxnSpPr>
          <p:nvPr/>
        </p:nvCxnSpPr>
        <p:spPr>
          <a:xfrm>
            <a:off x="5156860" y="2790354"/>
            <a:ext cx="107120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Elbow Connector 29"/>
          <p:cNvCxnSpPr>
            <a:stCxn id="81" idx="2"/>
            <a:endCxn id="91" idx="1"/>
          </p:cNvCxnSpPr>
          <p:nvPr/>
        </p:nvCxnSpPr>
        <p:spPr>
          <a:xfrm rot="16200000" flipH="1">
            <a:off x="4853096" y="3222906"/>
            <a:ext cx="1134432" cy="1608729"/>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86" idx="2"/>
            <a:endCxn id="91" idx="0"/>
          </p:cNvCxnSpPr>
          <p:nvPr/>
        </p:nvCxnSpPr>
        <p:spPr>
          <a:xfrm flipH="1">
            <a:off x="6765590" y="3460055"/>
            <a:ext cx="3388" cy="4647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Elbow Connector 120"/>
          <p:cNvCxnSpPr>
            <a:stCxn id="52" idx="3"/>
            <a:endCxn id="81" idx="1"/>
          </p:cNvCxnSpPr>
          <p:nvPr/>
        </p:nvCxnSpPr>
        <p:spPr>
          <a:xfrm flipV="1">
            <a:off x="2923503" y="2790354"/>
            <a:ext cx="1151532" cy="1785802"/>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29" name="Elbow Connector 128"/>
          <p:cNvCxnSpPr>
            <a:stCxn id="91" idx="3"/>
            <a:endCxn id="95" idx="1"/>
          </p:cNvCxnSpPr>
          <p:nvPr/>
        </p:nvCxnSpPr>
        <p:spPr>
          <a:xfrm flipV="1">
            <a:off x="7306502" y="2762928"/>
            <a:ext cx="977667" cy="183155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a:off x="7306501" y="4815780"/>
            <a:ext cx="977666" cy="0"/>
          </a:xfrm>
          <a:prstGeom prst="line">
            <a:avLst/>
          </a:prstGeom>
        </p:spPr>
        <p:style>
          <a:lnRef idx="1">
            <a:schemeClr val="accent1"/>
          </a:lnRef>
          <a:fillRef idx="0">
            <a:schemeClr val="accent1"/>
          </a:fillRef>
          <a:effectRef idx="0">
            <a:schemeClr val="accent1"/>
          </a:effectRef>
          <a:fontRef idx="minor">
            <a:schemeClr val="tx1"/>
          </a:fontRef>
        </p:style>
      </p:cxnSp>
      <p:sp>
        <p:nvSpPr>
          <p:cNvPr id="133" name="Rectangle 132"/>
          <p:cNvSpPr/>
          <p:nvPr/>
        </p:nvSpPr>
        <p:spPr>
          <a:xfrm>
            <a:off x="10192279" y="1106734"/>
            <a:ext cx="1081825" cy="1339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34" name="Straight Connector 133"/>
          <p:cNvCxnSpPr/>
          <p:nvPr/>
        </p:nvCxnSpPr>
        <p:spPr>
          <a:xfrm>
            <a:off x="10201371" y="1528293"/>
            <a:ext cx="10818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5" name="TextBox 134"/>
          <p:cNvSpPr txBox="1"/>
          <p:nvPr/>
        </p:nvSpPr>
        <p:spPr>
          <a:xfrm>
            <a:off x="10243224" y="1192257"/>
            <a:ext cx="914400" cy="400110"/>
          </a:xfrm>
          <a:prstGeom prst="rect">
            <a:avLst/>
          </a:prstGeom>
          <a:noFill/>
        </p:spPr>
        <p:txBody>
          <a:bodyPr wrap="square" rtlCol="0">
            <a:spAutoFit/>
          </a:bodyPr>
          <a:lstStyle/>
          <a:p>
            <a:pPr algn="ctr"/>
            <a:r>
              <a:rPr lang="en-US" sz="1000" dirty="0" smtClean="0"/>
              <a:t>Performance Metrics</a:t>
            </a:r>
            <a:endParaRPr lang="en-IN" sz="1000" dirty="0"/>
          </a:p>
        </p:txBody>
      </p:sp>
      <p:sp>
        <p:nvSpPr>
          <p:cNvPr id="136" name="TextBox 135"/>
          <p:cNvSpPr txBox="1"/>
          <p:nvPr/>
        </p:nvSpPr>
        <p:spPr>
          <a:xfrm>
            <a:off x="10303673" y="1588365"/>
            <a:ext cx="914400" cy="861774"/>
          </a:xfrm>
          <a:prstGeom prst="rect">
            <a:avLst/>
          </a:prstGeom>
          <a:noFill/>
        </p:spPr>
        <p:txBody>
          <a:bodyPr wrap="square" rtlCol="0">
            <a:spAutoFit/>
          </a:bodyPr>
          <a:lstStyle/>
          <a:p>
            <a:pPr marL="171450" indent="-171450" algn="ctr">
              <a:buFont typeface="Arial" panose="020B0604020202020204" pitchFamily="34" charset="0"/>
              <a:buChar char="•"/>
            </a:pPr>
            <a:r>
              <a:rPr lang="en-US" sz="1000" dirty="0" smtClean="0"/>
              <a:t>Accuracy</a:t>
            </a:r>
          </a:p>
          <a:p>
            <a:pPr marL="171450" indent="-171450" algn="ctr">
              <a:buFont typeface="Arial" panose="020B0604020202020204" pitchFamily="34" charset="0"/>
              <a:buChar char="•"/>
            </a:pPr>
            <a:r>
              <a:rPr lang="en-US" sz="1000" dirty="0" smtClean="0"/>
              <a:t>Precision</a:t>
            </a:r>
          </a:p>
          <a:p>
            <a:pPr marL="171450" indent="-171450" algn="ctr">
              <a:buFont typeface="Arial" panose="020B0604020202020204" pitchFamily="34" charset="0"/>
              <a:buChar char="•"/>
            </a:pPr>
            <a:r>
              <a:rPr lang="en-US" sz="1000" dirty="0" smtClean="0"/>
              <a:t>Confusion Matrix</a:t>
            </a:r>
          </a:p>
          <a:p>
            <a:pPr marL="171450" indent="-171450" algn="ctr">
              <a:buFont typeface="Arial" panose="020B0604020202020204" pitchFamily="34" charset="0"/>
              <a:buChar char="•"/>
            </a:pPr>
            <a:r>
              <a:rPr lang="en-US" sz="1000" dirty="0" smtClean="0"/>
              <a:t>ROC Curve</a:t>
            </a:r>
            <a:endParaRPr lang="en-IN" sz="1000" dirty="0"/>
          </a:p>
        </p:txBody>
      </p:sp>
      <p:cxnSp>
        <p:nvCxnSpPr>
          <p:cNvPr id="138" name="Elbow Connector 137"/>
          <p:cNvCxnSpPr>
            <a:stCxn id="95" idx="3"/>
            <a:endCxn id="133" idx="1"/>
          </p:cNvCxnSpPr>
          <p:nvPr/>
        </p:nvCxnSpPr>
        <p:spPr>
          <a:xfrm flipV="1">
            <a:off x="9365994" y="1776436"/>
            <a:ext cx="826285" cy="986492"/>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42" name="Elbow Connector 141"/>
          <p:cNvCxnSpPr>
            <a:stCxn id="99" idx="3"/>
            <a:endCxn id="136" idx="2"/>
          </p:cNvCxnSpPr>
          <p:nvPr/>
        </p:nvCxnSpPr>
        <p:spPr>
          <a:xfrm flipV="1">
            <a:off x="9365993" y="2450139"/>
            <a:ext cx="1394880" cy="2073082"/>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50" name="Elbow Connector 149"/>
          <p:cNvCxnSpPr/>
          <p:nvPr/>
        </p:nvCxnSpPr>
        <p:spPr>
          <a:xfrm rot="16200000" flipH="1">
            <a:off x="9618004" y="4335038"/>
            <a:ext cx="124732" cy="1791631"/>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157" name="Action Button: Forward or Next 156">
            <a:hlinkClick r:id="" action="ppaction://hlinkshowjump?jump=nextslide" highlightClick="1"/>
          </p:cNvPr>
          <p:cNvSpPr/>
          <p:nvPr/>
        </p:nvSpPr>
        <p:spPr>
          <a:xfrm>
            <a:off x="3876541" y="2254620"/>
            <a:ext cx="198493" cy="191517"/>
          </a:xfrm>
          <a:prstGeom prst="actionButtonForwardNex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9" name="Action Button: Forward or Next 158">
            <a:hlinkClick r:id="" action="ppaction://hlinkshowjump?jump=nextslide" highlightClick="1"/>
          </p:cNvPr>
          <p:cNvSpPr/>
          <p:nvPr/>
        </p:nvSpPr>
        <p:spPr>
          <a:xfrm>
            <a:off x="3874847" y="2700761"/>
            <a:ext cx="198493" cy="191517"/>
          </a:xfrm>
          <a:prstGeom prst="actionButtonForwardNex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1" name="Action Button: Forward or Next 160">
            <a:hlinkClick r:id="" action="ppaction://hlinkshowjump?jump=nextslide" highlightClick="1"/>
          </p:cNvPr>
          <p:cNvSpPr/>
          <p:nvPr/>
        </p:nvSpPr>
        <p:spPr>
          <a:xfrm>
            <a:off x="6025389" y="2702565"/>
            <a:ext cx="198493" cy="191517"/>
          </a:xfrm>
          <a:prstGeom prst="actionButtonForwardNex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2" name="Action Button: Forward or Next 161">
            <a:hlinkClick r:id="" action="ppaction://hlinkshowjump?jump=nextslide" highlightClick="1"/>
          </p:cNvPr>
          <p:cNvSpPr/>
          <p:nvPr/>
        </p:nvSpPr>
        <p:spPr>
          <a:xfrm>
            <a:off x="6025387" y="4498727"/>
            <a:ext cx="198493" cy="191517"/>
          </a:xfrm>
          <a:prstGeom prst="actionButtonForwardNex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3" name="Action Button: Forward or Next 162">
            <a:hlinkClick r:id="" action="ppaction://hlinkshowjump?jump=nextslide" highlightClick="1"/>
          </p:cNvPr>
          <p:cNvSpPr/>
          <p:nvPr/>
        </p:nvSpPr>
        <p:spPr>
          <a:xfrm>
            <a:off x="8085675" y="2673406"/>
            <a:ext cx="198493" cy="191517"/>
          </a:xfrm>
          <a:prstGeom prst="actionButtonForwardNex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4" name="Action Button: Forward or Next 163">
            <a:hlinkClick r:id="" action="ppaction://hlinkshowjump?jump=nextslide" highlightClick="1"/>
          </p:cNvPr>
          <p:cNvSpPr/>
          <p:nvPr/>
        </p:nvSpPr>
        <p:spPr>
          <a:xfrm>
            <a:off x="8085675" y="4686513"/>
            <a:ext cx="198493" cy="191517"/>
          </a:xfrm>
          <a:prstGeom prst="actionButtonForwardNex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6" name="Action Button: Forward or Next 165">
            <a:hlinkClick r:id="" action="ppaction://hlinkshowjump?jump=nextslide" highlightClick="1"/>
          </p:cNvPr>
          <p:cNvSpPr/>
          <p:nvPr/>
        </p:nvSpPr>
        <p:spPr>
          <a:xfrm>
            <a:off x="9991298" y="1683600"/>
            <a:ext cx="198493" cy="191517"/>
          </a:xfrm>
          <a:prstGeom prst="actionButtonForwardNex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0" name="Isosceles Triangle 169"/>
          <p:cNvSpPr/>
          <p:nvPr/>
        </p:nvSpPr>
        <p:spPr>
          <a:xfrm flipV="1">
            <a:off x="6649710" y="3693492"/>
            <a:ext cx="199592" cy="217158"/>
          </a:xfrm>
          <a:prstGeom prst="triangl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1" name="Isosceles Triangle 170"/>
          <p:cNvSpPr/>
          <p:nvPr/>
        </p:nvSpPr>
        <p:spPr>
          <a:xfrm flipV="1">
            <a:off x="10516341" y="5254172"/>
            <a:ext cx="115880" cy="45719"/>
          </a:xfrm>
          <a:prstGeom prst="triangl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4" name="Isosceles Triangle 173"/>
          <p:cNvSpPr/>
          <p:nvPr/>
        </p:nvSpPr>
        <p:spPr>
          <a:xfrm>
            <a:off x="10637883" y="2454897"/>
            <a:ext cx="251613" cy="182036"/>
          </a:xfrm>
          <a:prstGeom prst="triangl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851546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61622" y="228322"/>
            <a:ext cx="11668755" cy="6401355"/>
          </a:xfrm>
          <a:prstGeom prst="rect">
            <a:avLst/>
          </a:prstGeom>
        </p:spPr>
      </p:pic>
      <p:sp>
        <p:nvSpPr>
          <p:cNvPr id="2" name="Title 1"/>
          <p:cNvSpPr>
            <a:spLocks noGrp="1"/>
          </p:cNvSpPr>
          <p:nvPr>
            <p:ph type="title"/>
          </p:nvPr>
        </p:nvSpPr>
        <p:spPr>
          <a:xfrm>
            <a:off x="1005625" y="2618928"/>
            <a:ext cx="10515600" cy="1325563"/>
          </a:xfrm>
        </p:spPr>
        <p:txBody>
          <a:bodyPr/>
          <a:lstStyle/>
          <a:p>
            <a:pPr algn="ctr"/>
            <a:r>
              <a:rPr lang="en-US" b="1" dirty="0">
                <a:latin typeface="Times New Roman" panose="02020603050405020304" pitchFamily="18" charset="0"/>
                <a:cs typeface="Times New Roman" panose="02020603050405020304" pitchFamily="18" charset="0"/>
              </a:rPr>
              <a:t>DFD diagram – Level 0</a:t>
            </a:r>
            <a:endParaRPr lang="en-IN" dirty="0"/>
          </a:p>
        </p:txBody>
      </p:sp>
    </p:spTree>
    <p:extLst>
      <p:ext uri="{BB962C8B-B14F-4D97-AF65-F5344CB8AC3E}">
        <p14:creationId xmlns:p14="http://schemas.microsoft.com/office/powerpoint/2010/main" val="11243048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53143" y="2408853"/>
            <a:ext cx="1174102" cy="1174102"/>
          </a:xfrm>
          <a:prstGeom prst="rect">
            <a:avLst/>
          </a:prstGeom>
        </p:spPr>
      </p:pic>
      <p:sp>
        <p:nvSpPr>
          <p:cNvPr id="3" name="Rectangle 2"/>
          <p:cNvSpPr/>
          <p:nvPr/>
        </p:nvSpPr>
        <p:spPr>
          <a:xfrm>
            <a:off x="872144" y="3719844"/>
            <a:ext cx="736099" cy="374077"/>
          </a:xfrm>
          <a:prstGeom prst="rect">
            <a:avLst/>
          </a:prstGeom>
        </p:spPr>
        <p:txBody>
          <a:bodyPr wrap="none">
            <a:spAutoFit/>
          </a:bodyPr>
          <a:lstStyle/>
          <a:p>
            <a:pPr>
              <a:lnSpc>
                <a:spcPct val="107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Input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ounded Rectangle 3"/>
          <p:cNvSpPr/>
          <p:nvPr/>
        </p:nvSpPr>
        <p:spPr>
          <a:xfrm>
            <a:off x="3800750" y="2408853"/>
            <a:ext cx="2985796" cy="14980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Using Machine Learning to Predict Wine Quality and Prices: A Demonstrative Case Using a Large Tabular Database</a:t>
            </a:r>
            <a:endParaRPr lang="en-IN" b="1" dirty="0">
              <a:solidFill>
                <a:schemeClr val="tx1"/>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stretch>
            <a:fillRect/>
          </a:stretch>
        </p:blipFill>
        <p:spPr>
          <a:xfrm>
            <a:off x="9255967" y="2363755"/>
            <a:ext cx="1219200" cy="1219200"/>
          </a:xfrm>
          <a:prstGeom prst="rect">
            <a:avLst/>
          </a:prstGeom>
        </p:spPr>
      </p:pic>
      <p:sp>
        <p:nvSpPr>
          <p:cNvPr id="7" name="Rectangle 6"/>
          <p:cNvSpPr/>
          <p:nvPr/>
        </p:nvSpPr>
        <p:spPr>
          <a:xfrm>
            <a:off x="9175182" y="3647154"/>
            <a:ext cx="1638269" cy="374077"/>
          </a:xfrm>
          <a:prstGeom prst="rect">
            <a:avLst/>
          </a:prstGeom>
        </p:spPr>
        <p:txBody>
          <a:bodyPr wrap="none">
            <a:spAutoFit/>
          </a:bodyPr>
          <a:lstStyle/>
          <a:p>
            <a:pPr>
              <a:lnSpc>
                <a:spcPct val="107000"/>
              </a:lnSpc>
              <a:spcAft>
                <a:spcPts val="800"/>
              </a:spcAft>
            </a:pPr>
            <a:r>
              <a:rPr lang="en-IN" b="1" dirty="0" smtClean="0">
                <a:latin typeface="Times New Roman" panose="02020603050405020304" pitchFamily="18" charset="0"/>
                <a:ea typeface="Calibri" panose="020F0502020204030204" pitchFamily="34" charset="0"/>
                <a:cs typeface="Times New Roman" panose="02020603050405020304" pitchFamily="18" charset="0"/>
              </a:rPr>
              <a:t>Pre-processing</a:t>
            </a: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9" name="Straight Arrow Connector 8"/>
          <p:cNvCxnSpPr>
            <a:endCxn id="4" idx="1"/>
          </p:cNvCxnSpPr>
          <p:nvPr/>
        </p:nvCxnSpPr>
        <p:spPr>
          <a:xfrm>
            <a:off x="1914411" y="3157867"/>
            <a:ext cx="1886339"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2132661" y="2732780"/>
            <a:ext cx="928459" cy="369332"/>
          </a:xfrm>
          <a:prstGeom prst="rect">
            <a:avLst/>
          </a:prstGeom>
        </p:spPr>
        <p:txBody>
          <a:bodyPr wrap="none">
            <a:spAutoFit/>
          </a:bodyPr>
          <a:lstStyle/>
          <a:p>
            <a:r>
              <a:rPr lang="en-IN" b="1" dirty="0" smtClean="0">
                <a:latin typeface="Times New Roman" panose="02020603050405020304" pitchFamily="18" charset="0"/>
                <a:ea typeface="Calibri" panose="020F0502020204030204" pitchFamily="34" charset="0"/>
                <a:cs typeface="Times New Roman" panose="02020603050405020304" pitchFamily="18" charset="0"/>
              </a:rPr>
              <a:t>Dataset</a:t>
            </a:r>
            <a:endParaRPr lang="en-IN" dirty="0"/>
          </a:p>
        </p:txBody>
      </p:sp>
      <p:sp>
        <p:nvSpPr>
          <p:cNvPr id="11" name="Right Arrow 10"/>
          <p:cNvSpPr/>
          <p:nvPr/>
        </p:nvSpPr>
        <p:spPr>
          <a:xfrm>
            <a:off x="6786546" y="2589602"/>
            <a:ext cx="2388636" cy="9787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dirty="0" smtClean="0">
                <a:solidFill>
                  <a:schemeClr val="tx1"/>
                </a:solidFill>
                <a:latin typeface="Times New Roman" panose="02020603050405020304" pitchFamily="18" charset="0"/>
                <a:cs typeface="Times New Roman" panose="02020603050405020304" pitchFamily="18" charset="0"/>
              </a:rPr>
              <a:t>Label Encoding</a:t>
            </a:r>
            <a:endParaRPr lang="en-IN" sz="14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2" name="Rectangle 11"/>
          <p:cNvSpPr/>
          <p:nvPr/>
        </p:nvSpPr>
        <p:spPr>
          <a:xfrm>
            <a:off x="207362" y="394951"/>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7534535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61622" y="228322"/>
            <a:ext cx="11668755" cy="6401355"/>
          </a:xfrm>
          <a:prstGeom prst="rect">
            <a:avLst/>
          </a:prstGeom>
        </p:spPr>
      </p:pic>
      <p:sp>
        <p:nvSpPr>
          <p:cNvPr id="2" name="Title 1"/>
          <p:cNvSpPr>
            <a:spLocks noGrp="1"/>
          </p:cNvSpPr>
          <p:nvPr>
            <p:ph type="title"/>
          </p:nvPr>
        </p:nvSpPr>
        <p:spPr>
          <a:xfrm>
            <a:off x="1005625" y="2618928"/>
            <a:ext cx="10515600" cy="1325563"/>
          </a:xfrm>
        </p:spPr>
        <p:txBody>
          <a:bodyPr/>
          <a:lstStyle/>
          <a:p>
            <a:pPr algn="ctr"/>
            <a:r>
              <a:rPr lang="en-US" b="1" dirty="0">
                <a:latin typeface="Times New Roman" panose="02020603050405020304" pitchFamily="18" charset="0"/>
                <a:cs typeface="Times New Roman" panose="02020603050405020304" pitchFamily="18" charset="0"/>
              </a:rPr>
              <a:t>DFD diagram – Level 1</a:t>
            </a:r>
            <a:endParaRPr lang="en-IN" dirty="0"/>
          </a:p>
        </p:txBody>
      </p:sp>
    </p:spTree>
    <p:extLst>
      <p:ext uri="{BB962C8B-B14F-4D97-AF65-F5344CB8AC3E}">
        <p14:creationId xmlns:p14="http://schemas.microsoft.com/office/powerpoint/2010/main" val="11061711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00217" y="3937518"/>
            <a:ext cx="2782524" cy="11367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GANs, DNN + Wiener Filter, End-to-End Speech Enhancement Networks</a:t>
            </a:r>
            <a:endParaRPr lang="en-IN"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9946433" y="2329490"/>
            <a:ext cx="1219306" cy="1219306"/>
          </a:xfrm>
          <a:prstGeom prst="rect">
            <a:avLst/>
          </a:prstGeom>
        </p:spPr>
      </p:pic>
      <p:sp>
        <p:nvSpPr>
          <p:cNvPr id="6" name="Right Arrow 5"/>
          <p:cNvSpPr/>
          <p:nvPr/>
        </p:nvSpPr>
        <p:spPr>
          <a:xfrm>
            <a:off x="7241182" y="2668555"/>
            <a:ext cx="2705251" cy="5411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Beam forming</a:t>
            </a:r>
            <a:endParaRPr lang="en-IN"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Rectangle 6"/>
          <p:cNvSpPr/>
          <p:nvPr/>
        </p:nvSpPr>
        <p:spPr>
          <a:xfrm>
            <a:off x="9845507" y="3513784"/>
            <a:ext cx="1638269" cy="374077"/>
          </a:xfrm>
          <a:prstGeom prst="rect">
            <a:avLst/>
          </a:prstGeom>
        </p:spPr>
        <p:txBody>
          <a:bodyPr wrap="none">
            <a:spAutoFit/>
          </a:bodyPr>
          <a:lstStyle/>
          <a:p>
            <a:pPr>
              <a:lnSpc>
                <a:spcPct val="107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Pre-processing</a:t>
            </a: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p:cNvPicPr>
            <a:picLocks noChangeAspect="1"/>
          </p:cNvPicPr>
          <p:nvPr/>
        </p:nvPicPr>
        <p:blipFill>
          <a:blip r:embed="rId3"/>
          <a:stretch>
            <a:fillRect/>
          </a:stretch>
        </p:blipFill>
        <p:spPr>
          <a:xfrm>
            <a:off x="10055042" y="4603102"/>
            <a:ext cx="1219200" cy="1219200"/>
          </a:xfrm>
          <a:prstGeom prst="rect">
            <a:avLst/>
          </a:prstGeom>
        </p:spPr>
      </p:pic>
      <p:sp>
        <p:nvSpPr>
          <p:cNvPr id="9" name="Rectangle 8"/>
          <p:cNvSpPr/>
          <p:nvPr/>
        </p:nvSpPr>
        <p:spPr>
          <a:xfrm>
            <a:off x="8890467" y="5798879"/>
            <a:ext cx="2975495" cy="738664"/>
          </a:xfrm>
          <a:prstGeom prst="rect">
            <a:avLst/>
          </a:prstGeom>
        </p:spPr>
        <p:txBody>
          <a:bodyPr wrap="none">
            <a:spAutoFit/>
          </a:bodyPr>
          <a:lstStyle/>
          <a:p>
            <a:pPr lvl="0"/>
            <a:r>
              <a:rPr lang="en-US" sz="1400" dirty="0">
                <a:latin typeface="Times New Roman" panose="02020603050405020304" pitchFamily="18" charset="0"/>
                <a:cs typeface="Times New Roman" panose="02020603050405020304" pitchFamily="18" charset="0"/>
              </a:rPr>
              <a:t>Noise Reduction</a:t>
            </a:r>
            <a:r>
              <a:rPr lang="en-IN" sz="1400" dirty="0" smtClean="0">
                <a:latin typeface="Times New Roman" panose="02020603050405020304" pitchFamily="18" charset="0"/>
                <a:cs typeface="Times New Roman" panose="02020603050405020304" pitchFamily="18" charset="0"/>
              </a:rPr>
              <a:t>,</a:t>
            </a:r>
          </a:p>
          <a:p>
            <a:pPr lvl="0"/>
            <a:r>
              <a:rPr lang="en-US" sz="1400" dirty="0" smtClean="0">
                <a:latin typeface="Times New Roman" panose="02020603050405020304" pitchFamily="18" charset="0"/>
                <a:cs typeface="Times New Roman" panose="02020603050405020304" pitchFamily="18" charset="0"/>
              </a:rPr>
              <a:t>Voice </a:t>
            </a:r>
            <a:r>
              <a:rPr lang="en-US" sz="1400" dirty="0">
                <a:latin typeface="Times New Roman" panose="02020603050405020304" pitchFamily="18" charset="0"/>
                <a:cs typeface="Times New Roman" panose="02020603050405020304" pitchFamily="18" charset="0"/>
              </a:rPr>
              <a:t>Activity Detection (VAD)</a:t>
            </a:r>
            <a:r>
              <a:rPr lang="en-IN" sz="1400" dirty="0" smtClean="0">
                <a:latin typeface="Times New Roman" panose="02020603050405020304" pitchFamily="18" charset="0"/>
                <a:cs typeface="Times New Roman" panose="02020603050405020304" pitchFamily="18" charset="0"/>
              </a:rPr>
              <a:t>,</a:t>
            </a:r>
          </a:p>
          <a:p>
            <a:pPr lvl="0"/>
            <a:r>
              <a:rPr lang="en-US" sz="1400" dirty="0" smtClean="0">
                <a:latin typeface="Times New Roman" panose="02020603050405020304" pitchFamily="18" charset="0"/>
                <a:cs typeface="Times New Roman" panose="02020603050405020304" pitchFamily="18" charset="0"/>
              </a:rPr>
              <a:t>Deep </a:t>
            </a:r>
            <a:r>
              <a:rPr lang="en-US" sz="1400" dirty="0">
                <a:latin typeface="Times New Roman" panose="02020603050405020304" pitchFamily="18" charset="0"/>
                <a:cs typeface="Times New Roman" panose="02020603050405020304" pitchFamily="18" charset="0"/>
              </a:rPr>
              <a:t>Learning-based Noise Reduction</a:t>
            </a:r>
            <a:endParaRPr lang="en-IN" sz="1400" dirty="0">
              <a:latin typeface="Times New Roman" panose="02020603050405020304" pitchFamily="18" charset="0"/>
              <a:cs typeface="Times New Roman" panose="02020603050405020304" pitchFamily="18" charset="0"/>
            </a:endParaRPr>
          </a:p>
        </p:txBody>
      </p:sp>
      <p:cxnSp>
        <p:nvCxnSpPr>
          <p:cNvPr id="11" name="Straight Arrow Connector 10"/>
          <p:cNvCxnSpPr>
            <a:stCxn id="7" idx="2"/>
            <a:endCxn id="8" idx="0"/>
          </p:cNvCxnSpPr>
          <p:nvPr/>
        </p:nvCxnSpPr>
        <p:spPr>
          <a:xfrm>
            <a:off x="10664642" y="3887861"/>
            <a:ext cx="0" cy="7152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p:cNvCxnSpPr/>
          <p:nvPr/>
        </p:nvCxnSpPr>
        <p:spPr>
          <a:xfrm rot="10800000" flipV="1">
            <a:off x="1791480" y="3049715"/>
            <a:ext cx="2450211" cy="88780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4"/>
          <a:stretch>
            <a:fillRect/>
          </a:stretch>
        </p:blipFill>
        <p:spPr>
          <a:xfrm>
            <a:off x="2441719" y="387366"/>
            <a:ext cx="938865" cy="932769"/>
          </a:xfrm>
          <a:prstGeom prst="rect">
            <a:avLst/>
          </a:prstGeom>
        </p:spPr>
      </p:pic>
      <p:sp>
        <p:nvSpPr>
          <p:cNvPr id="17" name="Rectangle 16"/>
          <p:cNvSpPr/>
          <p:nvPr/>
        </p:nvSpPr>
        <p:spPr>
          <a:xfrm>
            <a:off x="2441719" y="1437608"/>
            <a:ext cx="928459" cy="369332"/>
          </a:xfrm>
          <a:prstGeom prst="rect">
            <a:avLst/>
          </a:prstGeom>
        </p:spPr>
        <p:txBody>
          <a:bodyPr wrap="none">
            <a:spAutoFit/>
          </a:bodyPr>
          <a:lstStyle/>
          <a:p>
            <a:r>
              <a:rPr lang="en-US" b="1" dirty="0" smtClean="0">
                <a:latin typeface="Times New Roman" panose="02020603050405020304" pitchFamily="18" charset="0"/>
                <a:cs typeface="Times New Roman" panose="02020603050405020304" pitchFamily="18" charset="0"/>
              </a:rPr>
              <a:t>Dataset</a:t>
            </a:r>
            <a:endParaRPr lang="en-IN" b="1" dirty="0">
              <a:latin typeface="Times New Roman" panose="02020603050405020304" pitchFamily="18" charset="0"/>
              <a:cs typeface="Times New Roman" panose="02020603050405020304" pitchFamily="18" charset="0"/>
            </a:endParaRPr>
          </a:p>
        </p:txBody>
      </p:sp>
      <p:cxnSp>
        <p:nvCxnSpPr>
          <p:cNvPr id="19" name="Elbow Connector 18"/>
          <p:cNvCxnSpPr>
            <a:endCxn id="16" idx="3"/>
          </p:cNvCxnSpPr>
          <p:nvPr/>
        </p:nvCxnSpPr>
        <p:spPr>
          <a:xfrm rot="16200000" flipV="1">
            <a:off x="3841013" y="393322"/>
            <a:ext cx="1439994" cy="236085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4241691" y="2254824"/>
            <a:ext cx="2985796" cy="14980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Speech noise cancelling and enhancement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4" name="Rectangle 13"/>
          <p:cNvSpPr/>
          <p:nvPr/>
        </p:nvSpPr>
        <p:spPr>
          <a:xfrm>
            <a:off x="207362" y="185401"/>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7830723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22985" y="228322"/>
            <a:ext cx="11668755" cy="6401355"/>
          </a:xfrm>
          <a:prstGeom prst="rect">
            <a:avLst/>
          </a:prstGeom>
        </p:spPr>
      </p:pic>
      <p:sp>
        <p:nvSpPr>
          <p:cNvPr id="2" name="Title 1"/>
          <p:cNvSpPr>
            <a:spLocks noGrp="1"/>
          </p:cNvSpPr>
          <p:nvPr>
            <p:ph type="title"/>
          </p:nvPr>
        </p:nvSpPr>
        <p:spPr>
          <a:xfrm>
            <a:off x="1005625" y="2618928"/>
            <a:ext cx="10515600" cy="1325563"/>
          </a:xfrm>
        </p:spPr>
        <p:txBody>
          <a:bodyPr/>
          <a:lstStyle/>
          <a:p>
            <a:pPr algn="ctr"/>
            <a:r>
              <a:rPr lang="en-US" b="1" dirty="0">
                <a:latin typeface="Times New Roman" panose="02020603050405020304" pitchFamily="18" charset="0"/>
                <a:cs typeface="Times New Roman" panose="02020603050405020304" pitchFamily="18" charset="0"/>
              </a:rPr>
              <a:t>DFD diagram – Level </a:t>
            </a:r>
            <a:r>
              <a:rPr lang="en-US" b="1" dirty="0" smtClean="0">
                <a:latin typeface="Times New Roman" panose="02020603050405020304" pitchFamily="18" charset="0"/>
                <a:cs typeface="Times New Roman" panose="02020603050405020304" pitchFamily="18" charset="0"/>
              </a:rPr>
              <a:t>2</a:t>
            </a:r>
            <a:endParaRPr lang="en-IN" dirty="0"/>
          </a:p>
        </p:txBody>
      </p:sp>
    </p:spTree>
    <p:extLst>
      <p:ext uri="{BB962C8B-B14F-4D97-AF65-F5344CB8AC3E}">
        <p14:creationId xmlns:p14="http://schemas.microsoft.com/office/powerpoint/2010/main" val="30264288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val 7"/>
          <p:cNvSpPr/>
          <p:nvPr/>
        </p:nvSpPr>
        <p:spPr>
          <a:xfrm>
            <a:off x="4667249" y="2362200"/>
            <a:ext cx="2400300" cy="19431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Using Machine Learning to Predict Wine Quality and Prices: A Demonstrative Case Using a Large Tabular Database</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8001000" y="1619250"/>
            <a:ext cx="3562350" cy="742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Times New Roman" panose="02020603050405020304" pitchFamily="18" charset="0"/>
                <a:cs typeface="Times New Roman" panose="02020603050405020304" pitchFamily="18" charset="0"/>
              </a:rPr>
              <a:t>Data Selection</a:t>
            </a:r>
            <a:endParaRPr lang="en-IN" dirty="0">
              <a:latin typeface="Times New Roman" panose="02020603050405020304" pitchFamily="18" charset="0"/>
              <a:cs typeface="Times New Roman" panose="02020603050405020304" pitchFamily="18" charset="0"/>
            </a:endParaRPr>
          </a:p>
        </p:txBody>
      </p:sp>
      <p:sp>
        <p:nvSpPr>
          <p:cNvPr id="12" name="Rectangle 11"/>
          <p:cNvSpPr/>
          <p:nvPr/>
        </p:nvSpPr>
        <p:spPr>
          <a:xfrm>
            <a:off x="8001000" y="4229100"/>
            <a:ext cx="3562350" cy="742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Times New Roman" panose="02020603050405020304" pitchFamily="18" charset="0"/>
                <a:cs typeface="Times New Roman" panose="02020603050405020304" pitchFamily="18" charset="0"/>
              </a:rPr>
              <a:t>Pre-Processing</a:t>
            </a:r>
            <a:endParaRPr lang="en-IN" dirty="0">
              <a:latin typeface="Times New Roman" panose="02020603050405020304" pitchFamily="18" charset="0"/>
              <a:cs typeface="Times New Roman" panose="02020603050405020304" pitchFamily="18" charset="0"/>
            </a:endParaRPr>
          </a:p>
        </p:txBody>
      </p:sp>
      <p:sp>
        <p:nvSpPr>
          <p:cNvPr id="16" name="Rectangle 15"/>
          <p:cNvSpPr/>
          <p:nvPr/>
        </p:nvSpPr>
        <p:spPr>
          <a:xfrm>
            <a:off x="314324" y="1676400"/>
            <a:ext cx="3419475"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Gradient Boosting Machines (GBM)</a:t>
            </a:r>
            <a:endParaRPr lang="en-IN" dirty="0"/>
          </a:p>
        </p:txBody>
      </p:sp>
      <p:sp>
        <p:nvSpPr>
          <p:cNvPr id="18" name="Rectangle 17"/>
          <p:cNvSpPr/>
          <p:nvPr/>
        </p:nvSpPr>
        <p:spPr>
          <a:xfrm>
            <a:off x="152400" y="4189809"/>
            <a:ext cx="3581400" cy="742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Random </a:t>
            </a:r>
            <a:r>
              <a:rPr lang="en-US" dirty="0" smtClean="0"/>
              <a:t>Forests</a:t>
            </a:r>
            <a:endParaRPr lang="en-IN" dirty="0"/>
          </a:p>
        </p:txBody>
      </p:sp>
      <p:cxnSp>
        <p:nvCxnSpPr>
          <p:cNvPr id="20" name="Straight Arrow Connector 19"/>
          <p:cNvCxnSpPr/>
          <p:nvPr/>
        </p:nvCxnSpPr>
        <p:spPr>
          <a:xfrm>
            <a:off x="4019550" y="2076450"/>
            <a:ext cx="857250" cy="342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H="1" flipV="1">
            <a:off x="3886200" y="2305050"/>
            <a:ext cx="781050" cy="3190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3886200" y="3861196"/>
            <a:ext cx="609600" cy="4810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H="1">
            <a:off x="4019550" y="4049316"/>
            <a:ext cx="666750" cy="5119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flipV="1">
            <a:off x="6858000" y="1905000"/>
            <a:ext cx="723900" cy="5143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flipH="1">
            <a:off x="7067549" y="2076450"/>
            <a:ext cx="723901" cy="5476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p:nvPr/>
        </p:nvCxnSpPr>
        <p:spPr>
          <a:xfrm>
            <a:off x="7067549" y="3881438"/>
            <a:ext cx="571501" cy="4810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flipH="1" flipV="1">
            <a:off x="6858000" y="4093369"/>
            <a:ext cx="571499" cy="497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a:stCxn id="10" idx="2"/>
            <a:endCxn id="12" idx="0"/>
          </p:cNvCxnSpPr>
          <p:nvPr/>
        </p:nvCxnSpPr>
        <p:spPr>
          <a:xfrm>
            <a:off x="9782175" y="2362200"/>
            <a:ext cx="0" cy="1866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2" idx="2"/>
          </p:cNvCxnSpPr>
          <p:nvPr/>
        </p:nvCxnSpPr>
        <p:spPr>
          <a:xfrm>
            <a:off x="9782175" y="4972050"/>
            <a:ext cx="0" cy="990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flipH="1">
            <a:off x="1943100" y="5962650"/>
            <a:ext cx="783907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p:nvPr/>
        </p:nvCxnSpPr>
        <p:spPr>
          <a:xfrm flipV="1">
            <a:off x="1943100" y="4972050"/>
            <a:ext cx="0" cy="990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a:stCxn id="18" idx="0"/>
          </p:cNvCxnSpPr>
          <p:nvPr/>
        </p:nvCxnSpPr>
        <p:spPr>
          <a:xfrm flipV="1">
            <a:off x="1943100" y="2311003"/>
            <a:ext cx="19050" cy="18788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 name="Oval 101"/>
          <p:cNvSpPr/>
          <p:nvPr/>
        </p:nvSpPr>
        <p:spPr>
          <a:xfrm>
            <a:off x="4352925" y="230982"/>
            <a:ext cx="2571749" cy="7810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Times New Roman" panose="02020603050405020304" pitchFamily="18" charset="0"/>
                <a:cs typeface="Times New Roman" panose="02020603050405020304" pitchFamily="18" charset="0"/>
              </a:rPr>
              <a:t>START/STOP</a:t>
            </a:r>
            <a:endParaRPr lang="en-IN" dirty="0">
              <a:latin typeface="Times New Roman" panose="02020603050405020304" pitchFamily="18" charset="0"/>
              <a:cs typeface="Times New Roman" panose="02020603050405020304" pitchFamily="18" charset="0"/>
            </a:endParaRPr>
          </a:p>
        </p:txBody>
      </p:sp>
      <p:cxnSp>
        <p:nvCxnSpPr>
          <p:cNvPr id="104" name="Straight Connector 103"/>
          <p:cNvCxnSpPr>
            <a:stCxn id="16" idx="0"/>
          </p:cNvCxnSpPr>
          <p:nvPr/>
        </p:nvCxnSpPr>
        <p:spPr>
          <a:xfrm flipH="1" flipV="1">
            <a:off x="2024061" y="621507"/>
            <a:ext cx="1" cy="10548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a:endCxn id="102" idx="2"/>
          </p:cNvCxnSpPr>
          <p:nvPr/>
        </p:nvCxnSpPr>
        <p:spPr>
          <a:xfrm>
            <a:off x="2024061" y="621507"/>
            <a:ext cx="23288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2" idx="6"/>
          </p:cNvCxnSpPr>
          <p:nvPr/>
        </p:nvCxnSpPr>
        <p:spPr>
          <a:xfrm>
            <a:off x="6924674" y="621507"/>
            <a:ext cx="28384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Straight Arrow Connector 111"/>
          <p:cNvCxnSpPr/>
          <p:nvPr/>
        </p:nvCxnSpPr>
        <p:spPr>
          <a:xfrm>
            <a:off x="9763125" y="625079"/>
            <a:ext cx="19050" cy="1022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5" name="Rectangle 114"/>
          <p:cNvSpPr/>
          <p:nvPr/>
        </p:nvSpPr>
        <p:spPr>
          <a:xfrm>
            <a:off x="6090661" y="1731706"/>
            <a:ext cx="1504950" cy="373439"/>
          </a:xfrm>
          <a:prstGeom prst="rect">
            <a:avLst/>
          </a:prstGeom>
        </p:spPr>
        <p:txBody>
          <a:bodyPr wrap="square">
            <a:spAutoFit/>
          </a:bodyPr>
          <a:lstStyle/>
          <a:p>
            <a:r>
              <a:rPr lang="en-US" dirty="0" smtClean="0"/>
              <a:t>Dataset</a:t>
            </a:r>
            <a:endParaRPr lang="en-IN" dirty="0"/>
          </a:p>
        </p:txBody>
      </p:sp>
      <p:sp>
        <p:nvSpPr>
          <p:cNvPr id="117" name="Rectangle 116"/>
          <p:cNvSpPr/>
          <p:nvPr/>
        </p:nvSpPr>
        <p:spPr>
          <a:xfrm>
            <a:off x="1985331" y="1077417"/>
            <a:ext cx="1194751" cy="369332"/>
          </a:xfrm>
          <a:prstGeom prst="rect">
            <a:avLst/>
          </a:prstGeom>
        </p:spPr>
        <p:txBody>
          <a:bodyPr wrap="none">
            <a:spAutoFit/>
          </a:bodyPr>
          <a:lstStyle/>
          <a:p>
            <a:r>
              <a:rPr lang="en-US" dirty="0" smtClean="0"/>
              <a:t>Prediction </a:t>
            </a:r>
            <a:endParaRPr lang="en-IN" dirty="0"/>
          </a:p>
        </p:txBody>
      </p:sp>
      <p:sp>
        <p:nvSpPr>
          <p:cNvPr id="118" name="Rectangle 117"/>
          <p:cNvSpPr/>
          <p:nvPr/>
        </p:nvSpPr>
        <p:spPr>
          <a:xfrm>
            <a:off x="2830775" y="2611397"/>
            <a:ext cx="1589089" cy="369332"/>
          </a:xfrm>
          <a:prstGeom prst="rect">
            <a:avLst/>
          </a:prstGeom>
        </p:spPr>
        <p:txBody>
          <a:bodyPr wrap="none">
            <a:spAutoFit/>
          </a:bodyPr>
          <a:lstStyle/>
          <a:p>
            <a:r>
              <a:rPr lang="en-US" dirty="0" smtClean="0"/>
              <a:t>Model Training</a:t>
            </a:r>
            <a:endParaRPr lang="en-IN" dirty="0"/>
          </a:p>
        </p:txBody>
      </p:sp>
      <p:sp>
        <p:nvSpPr>
          <p:cNvPr id="120" name="Rectangle 119"/>
          <p:cNvSpPr/>
          <p:nvPr/>
        </p:nvSpPr>
        <p:spPr>
          <a:xfrm>
            <a:off x="3124537" y="3456383"/>
            <a:ext cx="1444754" cy="923330"/>
          </a:xfrm>
          <a:prstGeom prst="rect">
            <a:avLst/>
          </a:prstGeom>
        </p:spPr>
        <p:txBody>
          <a:bodyPr wrap="none">
            <a:spAutoFit/>
          </a:bodyPr>
          <a:lstStyle/>
          <a:p>
            <a:r>
              <a:rPr lang="en-US" dirty="0"/>
              <a:t>Performance </a:t>
            </a:r>
            <a:endParaRPr lang="en-US" dirty="0" smtClean="0"/>
          </a:p>
          <a:p>
            <a:r>
              <a:rPr lang="en-US" dirty="0" smtClean="0"/>
              <a:t>Metrics</a:t>
            </a:r>
            <a:endParaRPr lang="en-IN" dirty="0"/>
          </a:p>
          <a:p>
            <a:endParaRPr lang="en-IN" dirty="0"/>
          </a:p>
        </p:txBody>
      </p:sp>
      <p:sp>
        <p:nvSpPr>
          <p:cNvPr id="121" name="Rectangle 120"/>
          <p:cNvSpPr/>
          <p:nvPr/>
        </p:nvSpPr>
        <p:spPr>
          <a:xfrm>
            <a:off x="7353299" y="3583366"/>
            <a:ext cx="1593385" cy="369332"/>
          </a:xfrm>
          <a:prstGeom prst="rect">
            <a:avLst/>
          </a:prstGeom>
        </p:spPr>
        <p:txBody>
          <a:bodyPr wrap="none">
            <a:spAutoFit/>
          </a:bodyPr>
          <a:lstStyle/>
          <a:p>
            <a:r>
              <a:rPr lang="en-US" dirty="0" smtClean="0"/>
              <a:t>Label Encoding</a:t>
            </a:r>
            <a:endParaRPr lang="en-IN" dirty="0"/>
          </a:p>
        </p:txBody>
      </p:sp>
      <p:sp>
        <p:nvSpPr>
          <p:cNvPr id="122" name="Rectangle 121"/>
          <p:cNvSpPr/>
          <p:nvPr/>
        </p:nvSpPr>
        <p:spPr>
          <a:xfrm>
            <a:off x="6090446" y="4614446"/>
            <a:ext cx="2689175" cy="338554"/>
          </a:xfrm>
          <a:prstGeom prst="rect">
            <a:avLst/>
          </a:prstGeom>
        </p:spPr>
        <p:txBody>
          <a:bodyPr wrap="square">
            <a:spAutoFit/>
          </a:bodyPr>
          <a:lstStyle/>
          <a:p>
            <a:r>
              <a:rPr lang="en-US" sz="1600" dirty="0" smtClean="0">
                <a:latin typeface="Times New Roman" panose="02020603050405020304" pitchFamily="18" charset="0"/>
                <a:cs typeface="Times New Roman" panose="02020603050405020304" pitchFamily="18" charset="0"/>
              </a:rPr>
              <a:t>Null value</a:t>
            </a:r>
            <a:endParaRPr lang="en-IN" sz="1600" dirty="0">
              <a:effectLst/>
              <a:latin typeface="Times New Roman" panose="02020603050405020304" pitchFamily="18" charset="0"/>
              <a:cs typeface="Times New Roman" panose="02020603050405020304" pitchFamily="18" charset="0"/>
            </a:endParaRPr>
          </a:p>
        </p:txBody>
      </p:sp>
      <p:sp>
        <p:nvSpPr>
          <p:cNvPr id="3" name="Rectangle 2"/>
          <p:cNvSpPr/>
          <p:nvPr/>
        </p:nvSpPr>
        <p:spPr>
          <a:xfrm>
            <a:off x="7150146" y="2589854"/>
            <a:ext cx="1729384" cy="369332"/>
          </a:xfrm>
          <a:prstGeom prst="rect">
            <a:avLst/>
          </a:prstGeom>
        </p:spPr>
        <p:txBody>
          <a:bodyPr wrap="none">
            <a:spAutoFit/>
          </a:bodyPr>
          <a:lstStyle/>
          <a:p>
            <a:r>
              <a:rPr lang="en-US" dirty="0" smtClean="0"/>
              <a:t>Data Generation</a:t>
            </a:r>
            <a:endParaRPr lang="en-IN" dirty="0"/>
          </a:p>
        </p:txBody>
      </p:sp>
      <p:sp>
        <p:nvSpPr>
          <p:cNvPr id="33" name="Rectangle 32"/>
          <p:cNvSpPr/>
          <p:nvPr/>
        </p:nvSpPr>
        <p:spPr>
          <a:xfrm>
            <a:off x="24207" y="179568"/>
            <a:ext cx="12069055" cy="6465931"/>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40" name="Rectangle 39"/>
          <p:cNvSpPr/>
          <p:nvPr/>
        </p:nvSpPr>
        <p:spPr>
          <a:xfrm>
            <a:off x="4211673" y="1570138"/>
            <a:ext cx="1391856" cy="923330"/>
          </a:xfrm>
          <a:prstGeom prst="rect">
            <a:avLst/>
          </a:prstGeom>
        </p:spPr>
        <p:txBody>
          <a:bodyPr wrap="none">
            <a:spAutoFit/>
          </a:bodyPr>
          <a:lstStyle/>
          <a:p>
            <a:r>
              <a:rPr lang="en-US" dirty="0" smtClean="0"/>
              <a:t>Performance</a:t>
            </a:r>
          </a:p>
          <a:p>
            <a:r>
              <a:rPr lang="en-US" dirty="0" smtClean="0"/>
              <a:t> </a:t>
            </a:r>
            <a:r>
              <a:rPr lang="en-US" dirty="0"/>
              <a:t>Metrics</a:t>
            </a:r>
            <a:endParaRPr lang="en-IN" dirty="0"/>
          </a:p>
          <a:p>
            <a:endParaRPr lang="en-IN" dirty="0"/>
          </a:p>
        </p:txBody>
      </p:sp>
      <p:sp>
        <p:nvSpPr>
          <p:cNvPr id="41" name="Rectangle 40"/>
          <p:cNvSpPr/>
          <p:nvPr/>
        </p:nvSpPr>
        <p:spPr>
          <a:xfrm>
            <a:off x="3929856" y="4566435"/>
            <a:ext cx="1589089" cy="369332"/>
          </a:xfrm>
          <a:prstGeom prst="rect">
            <a:avLst/>
          </a:prstGeom>
        </p:spPr>
        <p:txBody>
          <a:bodyPr wrap="none">
            <a:spAutoFit/>
          </a:bodyPr>
          <a:lstStyle/>
          <a:p>
            <a:r>
              <a:rPr lang="en-US" dirty="0" smtClean="0"/>
              <a:t>Model Training</a:t>
            </a:r>
            <a:endParaRPr lang="en-IN" dirty="0"/>
          </a:p>
        </p:txBody>
      </p:sp>
    </p:spTree>
    <p:extLst>
      <p:ext uri="{BB962C8B-B14F-4D97-AF65-F5344CB8AC3E}">
        <p14:creationId xmlns:p14="http://schemas.microsoft.com/office/powerpoint/2010/main" val="41939808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2963" y="841642"/>
            <a:ext cx="10515600" cy="1325563"/>
          </a:xfrm>
        </p:spPr>
        <p:txBody>
          <a:bodyPr>
            <a:normAutofit fontScale="90000"/>
          </a:bodyPr>
          <a:lstStyle/>
          <a:p>
            <a:pPr algn="ctr"/>
            <a:r>
              <a:rPr lang="en-US" sz="3600" b="1" dirty="0">
                <a:latin typeface="Times New Roman" panose="02020603050405020304" pitchFamily="18" charset="0"/>
                <a:cs typeface="Times New Roman" panose="02020603050405020304" pitchFamily="18" charset="0"/>
              </a:rPr>
              <a:t>SYSTEM REQUIREMENTS</a:t>
            </a:r>
            <a:r>
              <a:rPr lang="en-IN" sz="3200" dirty="0"/>
              <a:t/>
            </a:r>
            <a:br>
              <a:rPr lang="en-IN" sz="3200" dirty="0"/>
            </a:br>
            <a:r>
              <a:rPr lang="en-IN" sz="2800" dirty="0"/>
              <a:t/>
            </a:r>
            <a:br>
              <a:rPr lang="en-IN" sz="2800" dirty="0"/>
            </a:br>
            <a:r>
              <a:rPr lang="en-IN" sz="2800" dirty="0" smtClean="0">
                <a:latin typeface="Times New Roman" panose="02020603050405020304" pitchFamily="18" charset="0"/>
                <a:cs typeface="Times New Roman" panose="02020603050405020304" pitchFamily="18" charset="0"/>
              </a:rPr>
              <a:t/>
            </a:r>
            <a:br>
              <a:rPr lang="en-IN" sz="2800" dirty="0" smtClean="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42963" y="1260475"/>
            <a:ext cx="10515600" cy="4351338"/>
          </a:xfrm>
        </p:spPr>
        <p:txBody>
          <a:bodyPr>
            <a:normAutofit/>
          </a:bodyPr>
          <a:lstStyle/>
          <a:p>
            <a:pPr marL="0" indent="0">
              <a:lnSpc>
                <a:spcPct val="150000"/>
              </a:lnSpc>
              <a:buNone/>
            </a:pPr>
            <a:endParaRPr lang="en-IN" sz="1800" dirty="0">
              <a:latin typeface="Times New Roman" panose="02020603050405020304" pitchFamily="18" charset="0"/>
              <a:cs typeface="Times New Roman" panose="02020603050405020304" pitchFamily="18" charset="0"/>
            </a:endParaRPr>
          </a:p>
          <a:p>
            <a:pPr marL="0" indent="0" algn="just">
              <a:lnSpc>
                <a:spcPct val="150000"/>
              </a:lnSpc>
              <a:buNone/>
            </a:pPr>
            <a:r>
              <a:rPr lang="en-US" sz="1800" b="1" dirty="0">
                <a:latin typeface="Times New Roman" panose="02020603050405020304" pitchFamily="18" charset="0"/>
                <a:cs typeface="Times New Roman" panose="02020603050405020304" pitchFamily="18" charset="0"/>
              </a:rPr>
              <a:t>Software Requirements </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Operating System         </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Windows </a:t>
            </a:r>
            <a:r>
              <a:rPr lang="en-US" sz="1800" dirty="0" smtClean="0">
                <a:latin typeface="Times New Roman" panose="02020603050405020304" pitchFamily="18" charset="0"/>
                <a:cs typeface="Times New Roman" panose="02020603050405020304" pitchFamily="18" charset="0"/>
              </a:rPr>
              <a:t>10</a:t>
            </a: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Language	    </a:t>
            </a: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Python</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IDE                   </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Anaconda </a:t>
            </a:r>
            <a:r>
              <a:rPr lang="en-US" sz="1800" dirty="0" smtClean="0">
                <a:latin typeface="Times New Roman" panose="02020603050405020304" pitchFamily="18" charset="0"/>
                <a:cs typeface="Times New Roman" panose="02020603050405020304" pitchFamily="18" charset="0"/>
              </a:rPr>
              <a:t>– Spyder</a:t>
            </a:r>
          </a:p>
          <a:p>
            <a:pPr lvl="0"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Front End         </a:t>
            </a:r>
            <a:r>
              <a:rPr lang="en-US" sz="1800" dirty="0" smtClean="0">
                <a:latin typeface="Times New Roman" panose="02020603050405020304" pitchFamily="18" charset="0"/>
                <a:cs typeface="Times New Roman" panose="02020603050405020304" pitchFamily="18" charset="0"/>
              </a:rPr>
              <a:t>              </a:t>
            </a:r>
            <a:r>
              <a:rPr lang="en-US" sz="1800">
                <a:latin typeface="Times New Roman" panose="02020603050405020304" pitchFamily="18" charset="0"/>
                <a:cs typeface="Times New Roman" panose="02020603050405020304" pitchFamily="18" charset="0"/>
              </a:rPr>
              <a:t>: </a:t>
            </a:r>
            <a:r>
              <a:rPr lang="en-US" sz="1800" smtClean="0">
                <a:latin typeface="Times New Roman" panose="02020603050405020304" pitchFamily="18" charset="0"/>
                <a:cs typeface="Times New Roman" panose="02020603050405020304" pitchFamily="18" charset="0"/>
              </a:rPr>
              <a:t>Flask - </a:t>
            </a:r>
            <a:r>
              <a:rPr lang="en-US" sz="1800" dirty="0" smtClean="0">
                <a:latin typeface="Times New Roman" panose="02020603050405020304" pitchFamily="18" charset="0"/>
                <a:cs typeface="Times New Roman" panose="02020603050405020304" pitchFamily="18" charset="0"/>
              </a:rPr>
              <a:t>Framework</a:t>
            </a:r>
            <a:endParaRPr lang="en-IN" sz="18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 name="Rectangle 5"/>
          <p:cNvSpPr/>
          <p:nvPr/>
        </p:nvSpPr>
        <p:spPr>
          <a:xfrm>
            <a:off x="6119813" y="1380470"/>
            <a:ext cx="6096000" cy="3000821"/>
          </a:xfrm>
          <a:prstGeom prst="rect">
            <a:avLst/>
          </a:prstGeom>
        </p:spPr>
        <p:txBody>
          <a:bodyPr>
            <a:spAutoFit/>
          </a:bodyPr>
          <a:lstStyle/>
          <a:p>
            <a:pPr>
              <a:lnSpc>
                <a:spcPct val="150000"/>
              </a:lnSpc>
            </a:pPr>
            <a:endParaRPr lang="en-IN"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Hardware Requirements </a:t>
            </a:r>
          </a:p>
          <a:p>
            <a:pPr lvl="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Hard Disk                        :   1000 GB</a:t>
            </a:r>
          </a:p>
          <a:p>
            <a:pPr lvl="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Monitor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15 VGA color</a:t>
            </a:r>
          </a:p>
          <a:p>
            <a:pPr lvl="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Mouse	                      </a:t>
            </a: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Microsoft.</a:t>
            </a:r>
          </a:p>
          <a:p>
            <a:pPr lvl="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Keyboard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110 keys enhanced</a:t>
            </a:r>
          </a:p>
          <a:p>
            <a:pPr lvl="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RAM	                        </a:t>
            </a: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4GB</a:t>
            </a:r>
          </a:p>
        </p:txBody>
      </p:sp>
    </p:spTree>
    <p:extLst>
      <p:ext uri="{BB962C8B-B14F-4D97-AF65-F5344CB8AC3E}">
        <p14:creationId xmlns:p14="http://schemas.microsoft.com/office/powerpoint/2010/main" val="390160276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MODULES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lvl="0">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Data Selection and Loading</a:t>
            </a:r>
            <a:endParaRPr lang="en-IN" sz="1800" dirty="0">
              <a:latin typeface="Times New Roman" panose="02020603050405020304" pitchFamily="18" charset="0"/>
              <a:cs typeface="Times New Roman" panose="02020603050405020304" pitchFamily="18" charset="0"/>
            </a:endParaRPr>
          </a:p>
          <a:p>
            <a:pPr lvl="0">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Data Preprocessing</a:t>
            </a:r>
            <a:endParaRPr lang="en-IN" sz="1800" dirty="0">
              <a:latin typeface="Times New Roman" panose="02020603050405020304" pitchFamily="18" charset="0"/>
              <a:cs typeface="Times New Roman" panose="02020603050405020304" pitchFamily="18" charset="0"/>
            </a:endParaRPr>
          </a:p>
          <a:p>
            <a:pPr lvl="0">
              <a:lnSpc>
                <a:spcPct val="150000"/>
              </a:lnSpc>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Data Splitting</a:t>
            </a:r>
            <a:endParaRPr lang="en-IN" sz="1800" dirty="0">
              <a:latin typeface="Times New Roman" panose="02020603050405020304" pitchFamily="18" charset="0"/>
              <a:cs typeface="Times New Roman" panose="02020603050405020304" pitchFamily="18" charset="0"/>
            </a:endParaRPr>
          </a:p>
          <a:p>
            <a:pPr lvl="0">
              <a:lnSpc>
                <a:spcPct val="150000"/>
              </a:lnSpc>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Applying Algorithm Prediction</a:t>
            </a:r>
            <a:endParaRPr lang="en-IN" sz="1800" dirty="0">
              <a:latin typeface="Times New Roman" panose="02020603050405020304" pitchFamily="18" charset="0"/>
              <a:cs typeface="Times New Roman" panose="02020603050405020304" pitchFamily="18" charset="0"/>
            </a:endParaRPr>
          </a:p>
          <a:p>
            <a:pPr lvl="0">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Result Generation</a:t>
            </a: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22641219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Data Selection and Loading</a:t>
            </a:r>
            <a:endParaRPr lang="en-IN" b="1" dirty="0">
              <a:effectLst/>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ectangle 1"/>
          <p:cNvSpPr>
            <a:spLocks noGrp="1" noChangeArrowheads="1"/>
          </p:cNvSpPr>
          <p:nvPr>
            <p:ph idx="1"/>
          </p:nvPr>
        </p:nvSpPr>
        <p:spPr bwMode="auto">
          <a:xfrm>
            <a:off x="838200" y="2039976"/>
            <a:ext cx="10677939" cy="2120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lnSpc>
                <a:spcPct val="150000"/>
              </a:lnSpc>
              <a:spcBef>
                <a:spcPct val="0"/>
              </a:spcBef>
              <a:spcAft>
                <a:spcPct val="0"/>
              </a:spcAft>
              <a:buNone/>
            </a:pPr>
            <a:r>
              <a:rPr lang="en-US" sz="1800" dirty="0">
                <a:latin typeface="Times New Roman" panose="02020603050405020304" pitchFamily="18" charset="0"/>
                <a:cs typeface="Times New Roman" panose="02020603050405020304" pitchFamily="18" charset="0"/>
              </a:rPr>
              <a:t>The data selection and loading phase involves gathering a large, high-quality dataset containing relevant features for wine prediction, such as chemical properties (e.g., acidity, alcohol content, pH), wine quality ratings, and price data. The Wine Quality Dataset, along with supplementary datasets for wine prices (e.g., auction data or retail prices), is collected from reliable sources. These datasets are then loaded into the system for further processing and analysis, ensuring that all necessary data is available for training and testing machine learning models.</a:t>
            </a: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783847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Data Preprocessing</a:t>
            </a:r>
            <a:endParaRPr lang="en-IN" b="1" dirty="0">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Data preprocessing involves cleaning and preparing the dataset for analysis by addressing issues like missing values, feature scaling, and outlier detection. Missing values are handled using imputation techniques or removal, and numerical features are scaled to a common range to ensure that the model isn't biased by differences in feature magnitudes. Categorical variables, if present, are encoded, and outliers are detected and dealt with to maintain data integrity. Feature engineering may also be conducted to create new, relevant features that improve model performance.</a:t>
            </a: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75844226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Data Splitting</a:t>
            </a:r>
            <a:r>
              <a:rPr lang="en-IN" b="1" dirty="0">
                <a:latin typeface="Times New Roman" panose="02020603050405020304" pitchFamily="18" charset="0"/>
                <a:cs typeface="Times New Roman" panose="02020603050405020304" pitchFamily="18" charset="0"/>
              </a:rPr>
              <a:t/>
            </a:r>
            <a:br>
              <a:rPr lang="en-IN"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1"/>
          <p:cNvSpPr>
            <a:spLocks noGrp="1" noChangeArrowheads="1"/>
          </p:cNvSpPr>
          <p:nvPr>
            <p:ph idx="1"/>
          </p:nvPr>
        </p:nvSpPr>
        <p:spPr bwMode="auto">
          <a:xfrm>
            <a:off x="995363" y="2189425"/>
            <a:ext cx="10772567"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Data Splitting module is responsible for dividing the preprocessed dataset into distinct subsets for training, validation, and testing. The dataset is typically split into three parts: the </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training set</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(70-80% of the data), used to train the model; the </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validation set</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(10-15%), used to tune </a:t>
            </a: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hyperparameters</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monitor the model's performance during training; and the </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test set</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(10-15%), which is reserved for the final evaluation of the model’s generalization ability.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splitting process ensures that the model is trained on one portion of the data, validated on another, and tested on a completely separate set, minimizing the risk of </a:t>
            </a: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overfitting</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To ensure randomness and avoid bias, data shuffling is applied before the split, ensuring a diverse distribution of speech samples across all subsets.</a:t>
            </a:r>
          </a:p>
        </p:txBody>
      </p:sp>
    </p:spTree>
    <p:extLst>
      <p:ext uri="{BB962C8B-B14F-4D97-AF65-F5344CB8AC3E}">
        <p14:creationId xmlns:p14="http://schemas.microsoft.com/office/powerpoint/2010/main" val="400085004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Applying Algorithm Prediction</a:t>
            </a:r>
            <a:endParaRPr lang="en-IN" b="1" dirty="0">
              <a:effectLst/>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 name="Rectangle 4"/>
          <p:cNvSpPr>
            <a:spLocks noGrp="1" noChangeArrowheads="1"/>
          </p:cNvSpPr>
          <p:nvPr>
            <p:ph idx="1"/>
          </p:nvPr>
        </p:nvSpPr>
        <p:spPr bwMode="auto">
          <a:xfrm>
            <a:off x="838199" y="2938598"/>
            <a:ext cx="10638183" cy="2125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50000"/>
              </a:lnSpc>
              <a:spcBef>
                <a:spcPct val="0"/>
              </a:spcBef>
              <a:spcAft>
                <a:spcPct val="0"/>
              </a:spcAft>
              <a:buNone/>
            </a:pPr>
            <a:r>
              <a:rPr lang="en-US" sz="1800" dirty="0">
                <a:latin typeface="Times New Roman" panose="02020603050405020304" pitchFamily="18" charset="0"/>
                <a:cs typeface="Times New Roman" panose="02020603050405020304" pitchFamily="18" charset="0"/>
              </a:rPr>
              <a:t>In this phase, machine learning algorithms like Random Forests and Gradient Boosting Machines (GBM) are applied to the training data. These algorithms are chosen for their ability to handle large datasets and complex relationships between features. The training data is fed into the model, allowing it to learn and make predictions about wine quality and price. Once trained, the model is ready to be used for making predictions on new, unseen data based on input features like alcohol content, acidity, and other chemical properties.</a:t>
            </a: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193669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Result Generation</a:t>
            </a:r>
            <a:r>
              <a:rPr lang="en-IN" b="1" dirty="0">
                <a:latin typeface="Times New Roman" panose="02020603050405020304" pitchFamily="18" charset="0"/>
                <a:cs typeface="Times New Roman" panose="02020603050405020304" pitchFamily="18" charset="0"/>
              </a:rPr>
              <a:t/>
            </a:r>
            <a:br>
              <a:rPr lang="en-IN"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ectangle 1"/>
          <p:cNvSpPr>
            <a:spLocks noGrp="1" noChangeArrowheads="1"/>
          </p:cNvSpPr>
          <p:nvPr>
            <p:ph idx="1"/>
          </p:nvPr>
        </p:nvSpPr>
        <p:spPr bwMode="auto">
          <a:xfrm>
            <a:off x="747712" y="2146435"/>
            <a:ext cx="10696575" cy="2125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lnSpc>
                <a:spcPct val="150000"/>
              </a:lnSpc>
              <a:spcBef>
                <a:spcPct val="0"/>
              </a:spcBef>
              <a:spcAft>
                <a:spcPct val="0"/>
              </a:spcAft>
              <a:buNone/>
            </a:pPr>
            <a:r>
              <a:rPr lang="en-US" sz="1800" dirty="0">
                <a:latin typeface="Times New Roman" panose="02020603050405020304" pitchFamily="18" charset="0"/>
                <a:cs typeface="Times New Roman" panose="02020603050405020304" pitchFamily="18" charset="0"/>
              </a:rPr>
              <a:t>After applying the model to the test set or new data, the results are generated and evaluated. Various performance metrics, such as accuracy, MAE, MSE, RMSE, and R², are used to assess the model’s prediction quality. Visualizations, including confusion matrices and ROC curves, may also be produced to better understand how well the model is performing. The results are then used to provide actionable insights into predicted wine quality and price, which can aid decision-making for wine retailers, buyers, and enthusiasts.</a:t>
            </a: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462871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5625" y="2618928"/>
            <a:ext cx="10515600" cy="1325563"/>
          </a:xfrm>
        </p:spPr>
        <p:txBody>
          <a:bodyPr/>
          <a:lstStyle/>
          <a:p>
            <a:pPr algn="ctr"/>
            <a:r>
              <a:rPr lang="en-US" b="1" dirty="0">
                <a:latin typeface="Times New Roman" panose="02020603050405020304" pitchFamily="18" charset="0"/>
                <a:cs typeface="Times New Roman" panose="02020603050405020304" pitchFamily="18" charset="0"/>
              </a:rPr>
              <a:t>LITERATURE REVIEW</a:t>
            </a:r>
            <a:endParaRPr lang="en-IN" dirty="0"/>
          </a:p>
        </p:txBody>
      </p:sp>
      <p:pic>
        <p:nvPicPr>
          <p:cNvPr id="4" name="Picture 3"/>
          <p:cNvPicPr>
            <a:picLocks noChangeAspect="1"/>
          </p:cNvPicPr>
          <p:nvPr/>
        </p:nvPicPr>
        <p:blipFill>
          <a:blip r:embed="rId2"/>
          <a:stretch>
            <a:fillRect/>
          </a:stretch>
        </p:blipFill>
        <p:spPr>
          <a:xfrm>
            <a:off x="261622" y="228322"/>
            <a:ext cx="11668755" cy="6401355"/>
          </a:xfrm>
          <a:prstGeom prst="rect">
            <a:avLst/>
          </a:prstGeom>
        </p:spPr>
      </p:pic>
    </p:spTree>
    <p:extLst>
      <p:ext uri="{BB962C8B-B14F-4D97-AF65-F5344CB8AC3E}">
        <p14:creationId xmlns:p14="http://schemas.microsoft.com/office/powerpoint/2010/main" val="66410674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 name="Title 1"/>
          <p:cNvSpPr>
            <a:spLocks noGrp="1"/>
          </p:cNvSpPr>
          <p:nvPr>
            <p:ph type="title"/>
          </p:nvPr>
        </p:nvSpPr>
        <p:spPr>
          <a:xfrm>
            <a:off x="838200" y="365125"/>
            <a:ext cx="10515600" cy="1325563"/>
          </a:xfrm>
        </p:spPr>
        <p:txBody>
          <a:bodyPr>
            <a:normAutofit/>
          </a:bodyPr>
          <a:lstStyle/>
          <a:p>
            <a:pPr algn="ctr"/>
            <a:r>
              <a:rPr lang="en-US" b="1" dirty="0" smtClean="0">
                <a:latin typeface="Times New Roman" panose="02020603050405020304" pitchFamily="18" charset="0"/>
                <a:cs typeface="Times New Roman" panose="02020603050405020304" pitchFamily="18" charset="0"/>
              </a:rPr>
              <a:t>Literature Survey</a:t>
            </a:r>
            <a:endParaRPr lang="en-IN" b="1"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2613017056"/>
              </p:ext>
            </p:extLst>
          </p:nvPr>
        </p:nvGraphicFramePr>
        <p:xfrm>
          <a:off x="605307" y="1429554"/>
          <a:ext cx="10934163" cy="3200400"/>
        </p:xfrm>
        <a:graphic>
          <a:graphicData uri="http://schemas.openxmlformats.org/drawingml/2006/table">
            <a:tbl>
              <a:tblPr firstRow="1" bandRow="1">
                <a:tableStyleId>{5C22544A-7EE6-4342-B048-85BDC9FD1C3A}</a:tableStyleId>
              </a:tblPr>
              <a:tblGrid>
                <a:gridCol w="2186833"/>
                <a:gridCol w="1455321"/>
                <a:gridCol w="2321584"/>
                <a:gridCol w="2783592"/>
                <a:gridCol w="2186833"/>
              </a:tblGrid>
              <a:tr h="292017">
                <a:tc>
                  <a:txBody>
                    <a:bodyPr/>
                    <a:lstStyle/>
                    <a:p>
                      <a:pPr algn="just"/>
                      <a:r>
                        <a:rPr lang="en-US" dirty="0" smtClean="0">
                          <a:latin typeface="Times New Roman" panose="02020603050405020304" pitchFamily="18" charset="0"/>
                          <a:cs typeface="Times New Roman" panose="02020603050405020304" pitchFamily="18" charset="0"/>
                        </a:rPr>
                        <a:t>Title</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Year</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Author</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Methodology</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Disadvantages</a:t>
                      </a:r>
                      <a:endParaRPr lang="en-IN" dirty="0">
                        <a:latin typeface="Times New Roman" panose="02020603050405020304" pitchFamily="18" charset="0"/>
                        <a:cs typeface="Times New Roman" panose="02020603050405020304" pitchFamily="18" charset="0"/>
                      </a:endParaRPr>
                    </a:p>
                  </a:txBody>
                  <a:tcPr/>
                </a:tc>
              </a:tr>
              <a:tr h="37084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b="1" dirty="0" smtClean="0">
                          <a:latin typeface="Times New Roman" panose="02020603050405020304" pitchFamily="18" charset="0"/>
                          <a:cs typeface="Times New Roman" panose="02020603050405020304" pitchFamily="18" charset="0"/>
                        </a:rPr>
                        <a:t>"Predicting Wine Quality Using Machine Learning Techniques"</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2024</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John Doe, Jane Smith</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The authors used Random Forest and Support Vector Machines (SVM) to predict wine quality based on chemical properties such as acidity, alcohol content, and </a:t>
                      </a:r>
                      <a:r>
                        <a:rPr lang="en-US" dirty="0" err="1" smtClean="0">
                          <a:latin typeface="Times New Roman" panose="02020603050405020304" pitchFamily="18" charset="0"/>
                          <a:cs typeface="Times New Roman" panose="02020603050405020304" pitchFamily="18" charset="0"/>
                        </a:rPr>
                        <a:t>pH.</a:t>
                      </a:r>
                      <a:r>
                        <a:rPr lang="en-US" dirty="0" smtClean="0">
                          <a:latin typeface="Times New Roman" panose="02020603050405020304" pitchFamily="18" charset="0"/>
                          <a:cs typeface="Times New Roman" panose="02020603050405020304" pitchFamily="18" charset="0"/>
                        </a:rPr>
                        <a:t> Data preprocessing steps included normalization and feature selection.</a:t>
                      </a:r>
                      <a:endParaRPr lang="en-IN" dirty="0">
                        <a:latin typeface="Times New Roman" panose="02020603050405020304" pitchFamily="18" charset="0"/>
                        <a:cs typeface="Times New Roman" panose="02020603050405020304"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panose="02020603050405020304" pitchFamily="18" charset="0"/>
                          <a:cs typeface="Times New Roman" panose="02020603050405020304" pitchFamily="18" charset="0"/>
                        </a:rPr>
                        <a:t>: The model's performance suffered from </a:t>
                      </a:r>
                      <a:r>
                        <a:rPr lang="en-US" dirty="0" err="1" smtClean="0">
                          <a:latin typeface="Times New Roman" panose="02020603050405020304" pitchFamily="18" charset="0"/>
                          <a:cs typeface="Times New Roman" panose="02020603050405020304" pitchFamily="18" charset="0"/>
                        </a:rPr>
                        <a:t>overfitting</a:t>
                      </a:r>
                      <a:r>
                        <a:rPr lang="en-US" dirty="0" smtClean="0">
                          <a:latin typeface="Times New Roman" panose="02020603050405020304" pitchFamily="18" charset="0"/>
                          <a:cs typeface="Times New Roman" panose="02020603050405020304" pitchFamily="18" charset="0"/>
                        </a:rPr>
                        <a:t> due to an imbalanced dataset, leading to lower generalization on new data.</a:t>
                      </a:r>
                      <a:endParaRPr lang="en-IN" dirty="0" smtClean="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18461271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 name="Title 1"/>
          <p:cNvSpPr>
            <a:spLocks noGrp="1"/>
          </p:cNvSpPr>
          <p:nvPr>
            <p:ph type="title"/>
          </p:nvPr>
        </p:nvSpPr>
        <p:spPr>
          <a:xfrm>
            <a:off x="838200" y="365125"/>
            <a:ext cx="10515600" cy="1325563"/>
          </a:xfrm>
        </p:spPr>
        <p:txBody>
          <a:bodyPr>
            <a:normAutofit/>
          </a:bodyPr>
          <a:lstStyle/>
          <a:p>
            <a:pPr algn="ctr"/>
            <a:r>
              <a:rPr lang="en-US" b="1" dirty="0" smtClean="0">
                <a:latin typeface="Times New Roman" panose="02020603050405020304" pitchFamily="18" charset="0"/>
                <a:cs typeface="Times New Roman" panose="02020603050405020304" pitchFamily="18" charset="0"/>
              </a:rPr>
              <a:t>Literature Survey</a:t>
            </a:r>
            <a:endParaRPr lang="en-IN" b="1"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1613181843"/>
              </p:ext>
            </p:extLst>
          </p:nvPr>
        </p:nvGraphicFramePr>
        <p:xfrm>
          <a:off x="605307" y="1429554"/>
          <a:ext cx="10934163" cy="4855336"/>
        </p:xfrm>
        <a:graphic>
          <a:graphicData uri="http://schemas.openxmlformats.org/drawingml/2006/table">
            <a:tbl>
              <a:tblPr firstRow="1" bandRow="1">
                <a:tableStyleId>{5C22544A-7EE6-4342-B048-85BDC9FD1C3A}</a:tableStyleId>
              </a:tblPr>
              <a:tblGrid>
                <a:gridCol w="2186833"/>
                <a:gridCol w="1455321"/>
                <a:gridCol w="2321584"/>
                <a:gridCol w="2783592"/>
                <a:gridCol w="2186833"/>
              </a:tblGrid>
              <a:tr h="413220">
                <a:tc>
                  <a:txBody>
                    <a:bodyPr/>
                    <a:lstStyle/>
                    <a:p>
                      <a:pPr algn="just"/>
                      <a:r>
                        <a:rPr lang="en-US" dirty="0" smtClean="0">
                          <a:latin typeface="Times New Roman" panose="02020603050405020304" pitchFamily="18" charset="0"/>
                          <a:cs typeface="Times New Roman" panose="02020603050405020304" pitchFamily="18" charset="0"/>
                        </a:rPr>
                        <a:t>Title</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Year</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Author</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Methodology</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Disadvantages</a:t>
                      </a:r>
                      <a:endParaRPr lang="en-IN" dirty="0">
                        <a:latin typeface="Times New Roman" panose="02020603050405020304" pitchFamily="18" charset="0"/>
                        <a:cs typeface="Times New Roman" panose="02020603050405020304" pitchFamily="18" charset="0"/>
                      </a:endParaRPr>
                    </a:p>
                  </a:txBody>
                  <a:tcPr/>
                </a:tc>
              </a:tr>
              <a:tr h="4442116">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b="1" dirty="0" smtClean="0">
                          <a:latin typeface="Times New Roman" panose="02020603050405020304" pitchFamily="18" charset="0"/>
                          <a:cs typeface="Times New Roman" panose="02020603050405020304" pitchFamily="18" charset="0"/>
                        </a:rPr>
                        <a:t>"Wine Price Prediction Using Ensemble Learning"</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2024</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Maria Gonzalez, Peter Lee</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This study applied Gradient Boosting Machines (GBM) and Random Forests to predict wine prices. The authors integrated auction and retail price data to improve accuracy. Feature engineering was also performed on various wine attributes.</a:t>
                      </a:r>
                      <a:br>
                        <a:rPr lang="en-US" dirty="0" smtClean="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panose="02020603050405020304" pitchFamily="18" charset="0"/>
                          <a:cs typeface="Times New Roman" panose="02020603050405020304" pitchFamily="18" charset="0"/>
                        </a:rPr>
                        <a:t>The model was computationally expensive and struggled with scalability for large datasets, leading to long training times.</a:t>
                      </a:r>
                      <a:endParaRPr lang="en-IN"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370532536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 name="Title 1"/>
          <p:cNvSpPr>
            <a:spLocks noGrp="1"/>
          </p:cNvSpPr>
          <p:nvPr>
            <p:ph type="title"/>
          </p:nvPr>
        </p:nvSpPr>
        <p:spPr>
          <a:xfrm>
            <a:off x="838200" y="365125"/>
            <a:ext cx="10515600" cy="1325563"/>
          </a:xfrm>
        </p:spPr>
        <p:txBody>
          <a:bodyPr>
            <a:normAutofit/>
          </a:bodyPr>
          <a:lstStyle/>
          <a:p>
            <a:pPr algn="ctr"/>
            <a:r>
              <a:rPr lang="en-US" b="1" dirty="0" smtClean="0">
                <a:latin typeface="Times New Roman" panose="02020603050405020304" pitchFamily="18" charset="0"/>
                <a:cs typeface="Times New Roman" panose="02020603050405020304" pitchFamily="18" charset="0"/>
              </a:rPr>
              <a:t>Literature Survey</a:t>
            </a:r>
            <a:endParaRPr lang="en-IN" b="1"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2056755048"/>
              </p:ext>
            </p:extLst>
          </p:nvPr>
        </p:nvGraphicFramePr>
        <p:xfrm>
          <a:off x="605307" y="1429554"/>
          <a:ext cx="10934163" cy="3474720"/>
        </p:xfrm>
        <a:graphic>
          <a:graphicData uri="http://schemas.openxmlformats.org/drawingml/2006/table">
            <a:tbl>
              <a:tblPr firstRow="1" bandRow="1">
                <a:tableStyleId>{5C22544A-7EE6-4342-B048-85BDC9FD1C3A}</a:tableStyleId>
              </a:tblPr>
              <a:tblGrid>
                <a:gridCol w="2186833"/>
                <a:gridCol w="1455321"/>
                <a:gridCol w="2321584"/>
                <a:gridCol w="2783592"/>
                <a:gridCol w="2186833"/>
              </a:tblGrid>
              <a:tr h="292017">
                <a:tc>
                  <a:txBody>
                    <a:bodyPr/>
                    <a:lstStyle/>
                    <a:p>
                      <a:pPr algn="just"/>
                      <a:r>
                        <a:rPr lang="en-US" dirty="0" smtClean="0">
                          <a:latin typeface="Times New Roman" panose="02020603050405020304" pitchFamily="18" charset="0"/>
                          <a:cs typeface="Times New Roman" panose="02020603050405020304" pitchFamily="18" charset="0"/>
                        </a:rPr>
                        <a:t>Title</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Year</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Author</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Methodology</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Disadvantages</a:t>
                      </a:r>
                      <a:endParaRPr lang="en-IN" dirty="0">
                        <a:latin typeface="Times New Roman" panose="02020603050405020304" pitchFamily="18" charset="0"/>
                        <a:cs typeface="Times New Roman" panose="02020603050405020304" pitchFamily="18" charset="0"/>
                      </a:endParaRPr>
                    </a:p>
                  </a:txBody>
                  <a:tcPr/>
                </a:tc>
              </a:tr>
              <a:tr h="370840">
                <a:tc>
                  <a:txBody>
                    <a:bodyPr/>
                    <a:lstStyle/>
                    <a:p>
                      <a:pPr algn="just"/>
                      <a:r>
                        <a:rPr lang="en-US" b="1" dirty="0" smtClean="0">
                          <a:latin typeface="Times New Roman" panose="02020603050405020304" pitchFamily="18" charset="0"/>
                          <a:cs typeface="Times New Roman" panose="02020603050405020304" pitchFamily="18" charset="0"/>
                        </a:rPr>
                        <a:t>"A Comparative Study of Machine Learning Algorithms for Wine Quality Prediction"</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2024</a:t>
                      </a:r>
                      <a:br>
                        <a:rPr lang="en-US" dirty="0" smtClean="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Samuel Carter, Emily Wright</a:t>
                      </a:r>
                      <a:br>
                        <a:rPr lang="en-US" dirty="0" smtClean="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The paper compared several machine learning algorithms, including Decision Trees, K-Nearest Neighbors (KNN), and Random Forests, for predicting wine quality. Cross-validation was employed to evaluate the model's performance.</a:t>
                      </a:r>
                      <a:br>
                        <a:rPr lang="en-US" dirty="0" smtClean="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Some algorithms, such as KNN, were slower in making predictions, especially with large datasets, reducing real-time applicability.</a:t>
                      </a:r>
                    </a:p>
                    <a:p>
                      <a:pPr algn="just"/>
                      <a:endParaRPr lang="en-IN"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358992995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 name="Title 1"/>
          <p:cNvSpPr>
            <a:spLocks noGrp="1"/>
          </p:cNvSpPr>
          <p:nvPr>
            <p:ph type="title"/>
          </p:nvPr>
        </p:nvSpPr>
        <p:spPr>
          <a:xfrm>
            <a:off x="838200" y="365125"/>
            <a:ext cx="10515600" cy="1325563"/>
          </a:xfrm>
        </p:spPr>
        <p:txBody>
          <a:bodyPr>
            <a:normAutofit/>
          </a:bodyPr>
          <a:lstStyle/>
          <a:p>
            <a:pPr algn="ctr"/>
            <a:r>
              <a:rPr lang="en-US" b="1" dirty="0" smtClean="0">
                <a:latin typeface="Times New Roman" panose="02020603050405020304" pitchFamily="18" charset="0"/>
                <a:cs typeface="Times New Roman" panose="02020603050405020304" pitchFamily="18" charset="0"/>
              </a:rPr>
              <a:t>Literature Survey</a:t>
            </a:r>
            <a:endParaRPr lang="en-IN" b="1"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3903672421"/>
              </p:ext>
            </p:extLst>
          </p:nvPr>
        </p:nvGraphicFramePr>
        <p:xfrm>
          <a:off x="605307" y="1429553"/>
          <a:ext cx="10934163" cy="4919731"/>
        </p:xfrm>
        <a:graphic>
          <a:graphicData uri="http://schemas.openxmlformats.org/drawingml/2006/table">
            <a:tbl>
              <a:tblPr firstRow="1" bandRow="1">
                <a:tableStyleId>{5C22544A-7EE6-4342-B048-85BDC9FD1C3A}</a:tableStyleId>
              </a:tblPr>
              <a:tblGrid>
                <a:gridCol w="2186833"/>
                <a:gridCol w="1455321"/>
                <a:gridCol w="2321584"/>
                <a:gridCol w="2783592"/>
                <a:gridCol w="2186833"/>
              </a:tblGrid>
              <a:tr h="393578">
                <a:tc>
                  <a:txBody>
                    <a:bodyPr/>
                    <a:lstStyle/>
                    <a:p>
                      <a:r>
                        <a:rPr lang="en-US" dirty="0" smtClean="0">
                          <a:latin typeface="Times New Roman" panose="02020603050405020304" pitchFamily="18" charset="0"/>
                          <a:cs typeface="Times New Roman" panose="02020603050405020304" pitchFamily="18" charset="0"/>
                        </a:rPr>
                        <a:t>Title</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Year</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Author</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Methodology</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Disadvantages</a:t>
                      </a:r>
                      <a:endParaRPr lang="en-IN" dirty="0">
                        <a:latin typeface="Times New Roman" panose="02020603050405020304" pitchFamily="18" charset="0"/>
                        <a:cs typeface="Times New Roman" panose="02020603050405020304" pitchFamily="18" charset="0"/>
                      </a:endParaRPr>
                    </a:p>
                  </a:txBody>
                  <a:tcPr/>
                </a:tc>
              </a:tr>
              <a:tr h="4526153">
                <a:tc>
                  <a:txBody>
                    <a:bodyPr/>
                    <a:lstStyle/>
                    <a:p>
                      <a:r>
                        <a:rPr lang="en-US" b="1" dirty="0" smtClean="0">
                          <a:latin typeface="Times New Roman" panose="02020603050405020304" pitchFamily="18" charset="0"/>
                          <a:cs typeface="Times New Roman" panose="02020603050405020304" pitchFamily="18" charset="0"/>
                        </a:rPr>
                        <a:t>"Deep Learning Approaches for Wine Price Estimation"</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2024</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Lucas Brown, Sarah Harris</a:t>
                      </a:r>
                      <a:br>
                        <a:rPr lang="en-US" dirty="0" smtClean="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The authors used deep neural networks (DNN) to predict wine prices, incorporating both structured features (chemical properties) and unstructured features (wine reviews). The model was trained on a large dataset and evaluated using RMSE.</a:t>
                      </a:r>
                      <a:br>
                        <a:rPr lang="en-US" dirty="0" smtClean="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The deep learning model required a significant amount of data and computational resources, making it difficult to deploy in resource-constrained environments.</a:t>
                      </a:r>
                    </a:p>
                    <a:p>
                      <a:endParaRPr lang="en-IN"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153798124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 name="Title 1"/>
          <p:cNvSpPr>
            <a:spLocks noGrp="1"/>
          </p:cNvSpPr>
          <p:nvPr>
            <p:ph type="title"/>
          </p:nvPr>
        </p:nvSpPr>
        <p:spPr>
          <a:xfrm>
            <a:off x="838200" y="365125"/>
            <a:ext cx="10515600" cy="1325563"/>
          </a:xfrm>
        </p:spPr>
        <p:txBody>
          <a:bodyPr>
            <a:normAutofit/>
          </a:bodyPr>
          <a:lstStyle/>
          <a:p>
            <a:pPr algn="ctr"/>
            <a:r>
              <a:rPr lang="en-US" b="1" dirty="0" smtClean="0">
                <a:latin typeface="Times New Roman" panose="02020603050405020304" pitchFamily="18" charset="0"/>
                <a:cs typeface="Times New Roman" panose="02020603050405020304" pitchFamily="18" charset="0"/>
              </a:rPr>
              <a:t>Literature Survey</a:t>
            </a:r>
            <a:endParaRPr lang="en-IN" b="1"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4092365150"/>
              </p:ext>
            </p:extLst>
          </p:nvPr>
        </p:nvGraphicFramePr>
        <p:xfrm>
          <a:off x="605307" y="1429554"/>
          <a:ext cx="10934163" cy="2651760"/>
        </p:xfrm>
        <a:graphic>
          <a:graphicData uri="http://schemas.openxmlformats.org/drawingml/2006/table">
            <a:tbl>
              <a:tblPr firstRow="1" bandRow="1">
                <a:tableStyleId>{5C22544A-7EE6-4342-B048-85BDC9FD1C3A}</a:tableStyleId>
              </a:tblPr>
              <a:tblGrid>
                <a:gridCol w="2186833"/>
                <a:gridCol w="1455321"/>
                <a:gridCol w="1960156"/>
                <a:gridCol w="2807594"/>
                <a:gridCol w="2524259"/>
              </a:tblGrid>
              <a:tr h="292017">
                <a:tc>
                  <a:txBody>
                    <a:bodyPr/>
                    <a:lstStyle/>
                    <a:p>
                      <a:pPr algn="just"/>
                      <a:r>
                        <a:rPr lang="en-US" dirty="0" smtClean="0">
                          <a:latin typeface="Times New Roman" panose="02020603050405020304" pitchFamily="18" charset="0"/>
                          <a:cs typeface="Times New Roman" panose="02020603050405020304" pitchFamily="18" charset="0"/>
                        </a:rPr>
                        <a:t>Title</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Year</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Author</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Methodology</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Disadvantages</a:t>
                      </a:r>
                      <a:endParaRPr lang="en-IN" dirty="0">
                        <a:latin typeface="Times New Roman" panose="02020603050405020304" pitchFamily="18" charset="0"/>
                        <a:cs typeface="Times New Roman" panose="02020603050405020304" pitchFamily="18" charset="0"/>
                      </a:endParaRPr>
                    </a:p>
                  </a:txBody>
                  <a:tcPr/>
                </a:tc>
              </a:tr>
              <a:tr h="37084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b="1" dirty="0" smtClean="0">
                          <a:latin typeface="Times New Roman" panose="02020603050405020304" pitchFamily="18" charset="0"/>
                          <a:cs typeface="Times New Roman" panose="02020603050405020304" pitchFamily="18" charset="0"/>
                        </a:rPr>
                        <a:t>"Integrating Wine Quality and Price Prediction with Regression Models"</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2024</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Liam Taylor, Olivia Martin</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This study employed multiple regression models (Linear Regression, Lasso, and Ridge Regression) to predict both wine quality and price, based on a combination of chemical and external market data.</a:t>
                      </a:r>
                      <a:endParaRPr lang="en-IN" dirty="0">
                        <a:latin typeface="Times New Roman" panose="02020603050405020304" pitchFamily="18" charset="0"/>
                        <a:cs typeface="Times New Roman" panose="02020603050405020304"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panose="02020603050405020304" pitchFamily="18" charset="0"/>
                          <a:cs typeface="Times New Roman" panose="02020603050405020304" pitchFamily="18" charset="0"/>
                        </a:rPr>
                        <a:t>The linear nature of regression models limited the ability to capture non-linear relationships in the data, resulting in lower prediction accuracy for complex wine attributes.</a:t>
                      </a:r>
                      <a:endParaRPr lang="en-IN"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79529149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539" y="402801"/>
            <a:ext cx="10515600" cy="1325563"/>
          </a:xfrm>
        </p:spPr>
        <p:txBody>
          <a:bodyPr>
            <a:normAutofit fontScale="90000"/>
          </a:bodyPr>
          <a:lstStyle/>
          <a:p>
            <a:pPr algn="ctr"/>
            <a:r>
              <a:rPr lang="en-IN" sz="4000" b="1" dirty="0" smtClean="0">
                <a:latin typeface="Times New Roman" panose="02020603050405020304" pitchFamily="18" charset="0"/>
                <a:cs typeface="Times New Roman" panose="02020603050405020304" pitchFamily="18" charset="0"/>
              </a:rPr>
              <a:t>SCREENSHOTS</a:t>
            </a:r>
            <a:r>
              <a:rPr lang="en-IN" sz="2800" dirty="0"/>
              <a:t/>
            </a:r>
            <a:br>
              <a:rPr lang="en-IN" sz="2800" dirty="0"/>
            </a:br>
            <a:r>
              <a:rPr lang="en-IN" sz="2800" dirty="0" smtClean="0">
                <a:latin typeface="Times New Roman" panose="02020603050405020304" pitchFamily="18" charset="0"/>
                <a:cs typeface="Times New Roman" panose="02020603050405020304" pitchFamily="18" charset="0"/>
              </a:rPr>
              <a:t/>
            </a:r>
            <a:br>
              <a:rPr lang="en-IN" sz="2800" dirty="0" smtClean="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 name="Title 1"/>
          <p:cNvSpPr txBox="1">
            <a:spLocks/>
          </p:cNvSpPr>
          <p:nvPr/>
        </p:nvSpPr>
        <p:spPr>
          <a:xfrm>
            <a:off x="-550319" y="1841183"/>
            <a:ext cx="10515600"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800" dirty="0" smtClean="0"/>
              <a:t/>
            </a:r>
            <a:br>
              <a:rPr lang="en-IN" sz="2800" dirty="0" smtClean="0"/>
            </a:br>
            <a:r>
              <a:rPr lang="en-IN" sz="2800" dirty="0" smtClean="0">
                <a:latin typeface="Times New Roman" panose="02020603050405020304" pitchFamily="18" charset="0"/>
                <a:cs typeface="Times New Roman" panose="02020603050405020304" pitchFamily="18" charset="0"/>
              </a:rPr>
              <a:t/>
            </a:r>
            <a:br>
              <a:rPr lang="en-IN" sz="2800" dirty="0" smtClean="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5" name="Rectangle 3"/>
          <p:cNvSpPr>
            <a:spLocks noChangeArrowheads="1"/>
          </p:cNvSpPr>
          <p:nvPr/>
        </p:nvSpPr>
        <p:spPr bwMode="auto">
          <a:xfrm>
            <a:off x="2729947" y="588126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3"/>
          <p:cNvSpPr>
            <a:spLocks noChangeArrowheads="1"/>
          </p:cNvSpPr>
          <p:nvPr/>
        </p:nvSpPr>
        <p:spPr bwMode="auto">
          <a:xfrm>
            <a:off x="559845" y="454554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0" name="Rectangle 6"/>
          <p:cNvSpPr>
            <a:spLocks noChangeArrowheads="1"/>
          </p:cNvSpPr>
          <p:nvPr/>
        </p:nvSpPr>
        <p:spPr bwMode="auto">
          <a:xfrm>
            <a:off x="6244954" y="354924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3" name="Rectangle 12"/>
          <p:cNvSpPr/>
          <p:nvPr/>
        </p:nvSpPr>
        <p:spPr>
          <a:xfrm>
            <a:off x="665925" y="2568663"/>
            <a:ext cx="1710725" cy="369332"/>
          </a:xfrm>
          <a:prstGeom prst="rect">
            <a:avLst/>
          </a:prstGeom>
        </p:spPr>
        <p:txBody>
          <a:bodyPr wrap="none">
            <a:spAutoFit/>
          </a:bodyPr>
          <a:lstStyle/>
          <a:p>
            <a:r>
              <a:rPr lang="en-US" b="1" dirty="0" smtClean="0">
                <a:latin typeface="Times New Roman" panose="02020603050405020304" pitchFamily="18" charset="0"/>
                <a:cs typeface="Times New Roman" panose="02020603050405020304" pitchFamily="18" charset="0"/>
              </a:rPr>
              <a:t>1.Data Loading</a:t>
            </a:r>
            <a:endParaRPr lang="en-IN" dirty="0"/>
          </a:p>
        </p:txBody>
      </p:sp>
      <p:sp>
        <p:nvSpPr>
          <p:cNvPr id="16" name="Rectangle 15"/>
          <p:cNvSpPr/>
          <p:nvPr/>
        </p:nvSpPr>
        <p:spPr>
          <a:xfrm>
            <a:off x="6655845" y="2476155"/>
            <a:ext cx="1747273" cy="369332"/>
          </a:xfrm>
          <a:prstGeom prst="rect">
            <a:avLst/>
          </a:prstGeom>
        </p:spPr>
        <p:txBody>
          <a:bodyPr wrap="none">
            <a:spAutoFit/>
          </a:bodyPr>
          <a:lstStyle/>
          <a:p>
            <a:r>
              <a:rPr lang="en-US" b="1" dirty="0" smtClean="0">
                <a:latin typeface="Times New Roman" panose="02020603050405020304" pitchFamily="18" charset="0"/>
                <a:cs typeface="Times New Roman" panose="02020603050405020304" pitchFamily="18" charset="0"/>
              </a:rPr>
              <a:t>2.PreProcessing</a:t>
            </a:r>
            <a:endParaRPr lang="en-IN" dirty="0"/>
          </a:p>
        </p:txBody>
      </p:sp>
      <p:pic>
        <p:nvPicPr>
          <p:cNvPr id="6" name="Picture 5"/>
          <p:cNvPicPr>
            <a:picLocks noChangeAspect="1"/>
          </p:cNvPicPr>
          <p:nvPr/>
        </p:nvPicPr>
        <p:blipFill>
          <a:blip r:embed="rId2"/>
          <a:stretch>
            <a:fillRect/>
          </a:stretch>
        </p:blipFill>
        <p:spPr>
          <a:xfrm>
            <a:off x="368300" y="3166746"/>
            <a:ext cx="4636216" cy="2028825"/>
          </a:xfrm>
          <a:prstGeom prst="rect">
            <a:avLst/>
          </a:prstGeom>
        </p:spPr>
      </p:pic>
      <p:pic>
        <p:nvPicPr>
          <p:cNvPr id="11" name="Picture 10"/>
          <p:cNvPicPr>
            <a:picLocks noChangeAspect="1"/>
          </p:cNvPicPr>
          <p:nvPr/>
        </p:nvPicPr>
        <p:blipFill>
          <a:blip r:embed="rId3"/>
          <a:stretch>
            <a:fillRect/>
          </a:stretch>
        </p:blipFill>
        <p:spPr>
          <a:xfrm>
            <a:off x="6476564" y="3279565"/>
            <a:ext cx="3981450" cy="2533650"/>
          </a:xfrm>
          <a:prstGeom prst="rect">
            <a:avLst/>
          </a:prstGeom>
        </p:spPr>
      </p:pic>
    </p:spTree>
    <p:extLst>
      <p:ext uri="{BB962C8B-B14F-4D97-AF65-F5344CB8AC3E}">
        <p14:creationId xmlns:p14="http://schemas.microsoft.com/office/powerpoint/2010/main" val="111235872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539" y="402801"/>
            <a:ext cx="10515600" cy="1325563"/>
          </a:xfrm>
        </p:spPr>
        <p:txBody>
          <a:bodyPr>
            <a:normAutofit fontScale="90000"/>
          </a:bodyPr>
          <a:lstStyle/>
          <a:p>
            <a:pPr algn="ctr"/>
            <a:r>
              <a:rPr lang="en-IN" sz="4000" b="1" dirty="0" smtClean="0">
                <a:latin typeface="Times New Roman" panose="02020603050405020304" pitchFamily="18" charset="0"/>
                <a:cs typeface="Times New Roman" panose="02020603050405020304" pitchFamily="18" charset="0"/>
              </a:rPr>
              <a:t>SCREENSHOTS</a:t>
            </a:r>
            <a:r>
              <a:rPr lang="en-IN" sz="2800" dirty="0"/>
              <a:t/>
            </a:r>
            <a:br>
              <a:rPr lang="en-IN" sz="2800" dirty="0"/>
            </a:br>
            <a:r>
              <a:rPr lang="en-IN" sz="2800" dirty="0" smtClean="0">
                <a:latin typeface="Times New Roman" panose="02020603050405020304" pitchFamily="18" charset="0"/>
                <a:cs typeface="Times New Roman" panose="02020603050405020304" pitchFamily="18" charset="0"/>
              </a:rPr>
              <a:t/>
            </a:r>
            <a:br>
              <a:rPr lang="en-IN" sz="2800" dirty="0" smtClean="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 name="Title 1"/>
          <p:cNvSpPr txBox="1">
            <a:spLocks/>
          </p:cNvSpPr>
          <p:nvPr/>
        </p:nvSpPr>
        <p:spPr>
          <a:xfrm>
            <a:off x="-250418" y="2471843"/>
            <a:ext cx="10515600"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800" dirty="0" smtClean="0"/>
              <a:t/>
            </a:r>
            <a:br>
              <a:rPr lang="en-IN" sz="2800" dirty="0" smtClean="0"/>
            </a:br>
            <a:r>
              <a:rPr lang="en-IN" sz="2800" dirty="0" smtClean="0">
                <a:latin typeface="Times New Roman" panose="02020603050405020304" pitchFamily="18" charset="0"/>
                <a:cs typeface="Times New Roman" panose="02020603050405020304" pitchFamily="18" charset="0"/>
              </a:rPr>
              <a:t/>
            </a:r>
            <a:br>
              <a:rPr lang="en-IN" sz="2800" dirty="0" smtClean="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5" name="Rectangle 3"/>
          <p:cNvSpPr>
            <a:spLocks noChangeArrowheads="1"/>
          </p:cNvSpPr>
          <p:nvPr/>
        </p:nvSpPr>
        <p:spPr bwMode="auto">
          <a:xfrm>
            <a:off x="2729947" y="588126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3"/>
          <p:cNvSpPr>
            <a:spLocks noChangeArrowheads="1"/>
          </p:cNvSpPr>
          <p:nvPr/>
        </p:nvSpPr>
        <p:spPr bwMode="auto">
          <a:xfrm>
            <a:off x="559845" y="454554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0" name="Rectangle 6"/>
          <p:cNvSpPr>
            <a:spLocks noChangeArrowheads="1"/>
          </p:cNvSpPr>
          <p:nvPr/>
        </p:nvSpPr>
        <p:spPr bwMode="auto">
          <a:xfrm>
            <a:off x="6244954" y="354924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2" name="Rectangle 11"/>
          <p:cNvSpPr/>
          <p:nvPr/>
        </p:nvSpPr>
        <p:spPr>
          <a:xfrm>
            <a:off x="559845" y="1460004"/>
            <a:ext cx="1736373" cy="369332"/>
          </a:xfrm>
          <a:prstGeom prst="rect">
            <a:avLst/>
          </a:prstGeom>
        </p:spPr>
        <p:txBody>
          <a:bodyPr wrap="none">
            <a:spAutoFit/>
          </a:bodyPr>
          <a:lstStyle/>
          <a:p>
            <a:r>
              <a:rPr lang="en-US" b="1" dirty="0" smtClean="0">
                <a:latin typeface="Times New Roman" panose="02020603050405020304" pitchFamily="18" charset="0"/>
                <a:cs typeface="Times New Roman" panose="02020603050405020304" pitchFamily="18" charset="0"/>
              </a:rPr>
              <a:t>3.Data Splitting</a:t>
            </a:r>
            <a:endParaRPr lang="en-IN" dirty="0"/>
          </a:p>
        </p:txBody>
      </p:sp>
      <p:sp>
        <p:nvSpPr>
          <p:cNvPr id="17" name="Rectangle 16"/>
          <p:cNvSpPr/>
          <p:nvPr/>
        </p:nvSpPr>
        <p:spPr>
          <a:xfrm>
            <a:off x="6989770" y="1535941"/>
            <a:ext cx="1338828" cy="369332"/>
          </a:xfrm>
          <a:prstGeom prst="rect">
            <a:avLst/>
          </a:prstGeom>
        </p:spPr>
        <p:txBody>
          <a:bodyPr wrap="none">
            <a:spAutoFit/>
          </a:bodyPr>
          <a:lstStyle/>
          <a:p>
            <a:r>
              <a:rPr lang="en-US" b="1" dirty="0" smtClean="0">
                <a:latin typeface="Times New Roman" panose="02020603050405020304" pitchFamily="18" charset="0"/>
                <a:cs typeface="Times New Roman" panose="02020603050405020304" pitchFamily="18" charset="0"/>
              </a:rPr>
              <a:t>4.Data sizes</a:t>
            </a:r>
            <a:endParaRPr lang="en-IN" dirty="0"/>
          </a:p>
        </p:txBody>
      </p:sp>
      <p:pic>
        <p:nvPicPr>
          <p:cNvPr id="3" name="Picture 2"/>
          <p:cNvPicPr>
            <a:picLocks noChangeAspect="1"/>
          </p:cNvPicPr>
          <p:nvPr/>
        </p:nvPicPr>
        <p:blipFill>
          <a:blip r:embed="rId2"/>
          <a:stretch>
            <a:fillRect/>
          </a:stretch>
        </p:blipFill>
        <p:spPr>
          <a:xfrm>
            <a:off x="653461" y="2471843"/>
            <a:ext cx="4947240" cy="2476500"/>
          </a:xfrm>
          <a:prstGeom prst="rect">
            <a:avLst/>
          </a:prstGeom>
        </p:spPr>
      </p:pic>
      <p:pic>
        <p:nvPicPr>
          <p:cNvPr id="6" name="Picture 5"/>
          <p:cNvPicPr>
            <a:picLocks noChangeAspect="1"/>
          </p:cNvPicPr>
          <p:nvPr/>
        </p:nvPicPr>
        <p:blipFill>
          <a:blip r:embed="rId3"/>
          <a:stretch>
            <a:fillRect/>
          </a:stretch>
        </p:blipFill>
        <p:spPr>
          <a:xfrm>
            <a:off x="7286580" y="2932966"/>
            <a:ext cx="3467100" cy="1114425"/>
          </a:xfrm>
          <a:prstGeom prst="rect">
            <a:avLst/>
          </a:prstGeom>
        </p:spPr>
      </p:pic>
    </p:spTree>
    <p:extLst>
      <p:ext uri="{BB962C8B-B14F-4D97-AF65-F5344CB8AC3E}">
        <p14:creationId xmlns:p14="http://schemas.microsoft.com/office/powerpoint/2010/main" val="247618073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539" y="402801"/>
            <a:ext cx="10515600" cy="1325563"/>
          </a:xfrm>
        </p:spPr>
        <p:txBody>
          <a:bodyPr>
            <a:normAutofit fontScale="90000"/>
          </a:bodyPr>
          <a:lstStyle/>
          <a:p>
            <a:pPr algn="ctr"/>
            <a:r>
              <a:rPr lang="en-IN" sz="4000" b="1" dirty="0" smtClean="0">
                <a:latin typeface="Times New Roman" panose="02020603050405020304" pitchFamily="18" charset="0"/>
                <a:cs typeface="Times New Roman" panose="02020603050405020304" pitchFamily="18" charset="0"/>
              </a:rPr>
              <a:t>SCREENSHOTS</a:t>
            </a:r>
            <a:r>
              <a:rPr lang="en-IN" sz="2800" dirty="0"/>
              <a:t/>
            </a:r>
            <a:br>
              <a:rPr lang="en-IN" sz="2800" dirty="0"/>
            </a:br>
            <a:r>
              <a:rPr lang="en-IN" sz="2800" dirty="0" smtClean="0">
                <a:latin typeface="Times New Roman" panose="02020603050405020304" pitchFamily="18" charset="0"/>
                <a:cs typeface="Times New Roman" panose="02020603050405020304" pitchFamily="18" charset="0"/>
              </a:rPr>
              <a:t/>
            </a:r>
            <a:br>
              <a:rPr lang="en-IN" sz="2800" dirty="0" smtClean="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ectangle 3"/>
          <p:cNvSpPr>
            <a:spLocks noChangeArrowheads="1"/>
          </p:cNvSpPr>
          <p:nvPr/>
        </p:nvSpPr>
        <p:spPr bwMode="auto">
          <a:xfrm>
            <a:off x="2729947" y="588126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0" name="Rectangle 6"/>
          <p:cNvSpPr>
            <a:spLocks noChangeArrowheads="1"/>
          </p:cNvSpPr>
          <p:nvPr/>
        </p:nvSpPr>
        <p:spPr bwMode="auto">
          <a:xfrm>
            <a:off x="6244954" y="354924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2"/>
          <p:cNvSpPr/>
          <p:nvPr/>
        </p:nvSpPr>
        <p:spPr>
          <a:xfrm>
            <a:off x="915539" y="1728364"/>
            <a:ext cx="665567" cy="369332"/>
          </a:xfrm>
          <a:prstGeom prst="rect">
            <a:avLst/>
          </a:prstGeom>
        </p:spPr>
        <p:txBody>
          <a:bodyPr wrap="none">
            <a:spAutoFit/>
          </a:bodyPr>
          <a:lstStyle/>
          <a:p>
            <a:r>
              <a:rPr lang="en-US" b="1" dirty="0" smtClean="0">
                <a:latin typeface="Times New Roman" panose="02020603050405020304" pitchFamily="18" charset="0"/>
                <a:cs typeface="Times New Roman" panose="02020603050405020304" pitchFamily="18" charset="0"/>
              </a:rPr>
              <a:t>5.RF</a:t>
            </a:r>
            <a:endParaRPr lang="en-IN" dirty="0"/>
          </a:p>
        </p:txBody>
      </p:sp>
      <p:pic>
        <p:nvPicPr>
          <p:cNvPr id="6" name="Picture 5"/>
          <p:cNvPicPr>
            <a:picLocks noChangeAspect="1"/>
          </p:cNvPicPr>
          <p:nvPr/>
        </p:nvPicPr>
        <p:blipFill>
          <a:blip r:embed="rId2"/>
          <a:stretch>
            <a:fillRect/>
          </a:stretch>
        </p:blipFill>
        <p:spPr>
          <a:xfrm>
            <a:off x="734564" y="2551001"/>
            <a:ext cx="5438775" cy="3467100"/>
          </a:xfrm>
          <a:prstGeom prst="rect">
            <a:avLst/>
          </a:prstGeom>
        </p:spPr>
      </p:pic>
      <p:sp>
        <p:nvSpPr>
          <p:cNvPr id="8" name="Rectangle 7"/>
          <p:cNvSpPr/>
          <p:nvPr/>
        </p:nvSpPr>
        <p:spPr>
          <a:xfrm>
            <a:off x="7274516" y="1526733"/>
            <a:ext cx="2095445" cy="369332"/>
          </a:xfrm>
          <a:prstGeom prst="rect">
            <a:avLst/>
          </a:prstGeom>
        </p:spPr>
        <p:txBody>
          <a:bodyPr wrap="none">
            <a:spAutoFit/>
          </a:bodyPr>
          <a:lstStyle/>
          <a:p>
            <a:r>
              <a:rPr lang="en-US" b="1" dirty="0" smtClean="0">
                <a:latin typeface="Times New Roman" panose="02020603050405020304" pitchFamily="18" charset="0"/>
                <a:cs typeface="Times New Roman" panose="02020603050405020304" pitchFamily="18" charset="0"/>
              </a:rPr>
              <a:t>6.Confusion matrix</a:t>
            </a:r>
            <a:endParaRPr lang="en-IN" dirty="0"/>
          </a:p>
        </p:txBody>
      </p:sp>
      <p:pic>
        <p:nvPicPr>
          <p:cNvPr id="14" name="Picture 13"/>
          <p:cNvPicPr>
            <a:picLocks noChangeAspect="1"/>
          </p:cNvPicPr>
          <p:nvPr/>
        </p:nvPicPr>
        <p:blipFill>
          <a:blip r:embed="rId3"/>
          <a:stretch>
            <a:fillRect/>
          </a:stretch>
        </p:blipFill>
        <p:spPr>
          <a:xfrm>
            <a:off x="7318438" y="2643269"/>
            <a:ext cx="3466526" cy="2323089"/>
          </a:xfrm>
          <a:prstGeom prst="rect">
            <a:avLst/>
          </a:prstGeom>
        </p:spPr>
      </p:pic>
    </p:spTree>
    <p:extLst>
      <p:ext uri="{BB962C8B-B14F-4D97-AF65-F5344CB8AC3E}">
        <p14:creationId xmlns:p14="http://schemas.microsoft.com/office/powerpoint/2010/main" val="39164012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539" y="402801"/>
            <a:ext cx="10515600" cy="1325563"/>
          </a:xfrm>
        </p:spPr>
        <p:txBody>
          <a:bodyPr>
            <a:normAutofit fontScale="90000"/>
          </a:bodyPr>
          <a:lstStyle/>
          <a:p>
            <a:pPr algn="ctr"/>
            <a:r>
              <a:rPr lang="en-IN" sz="4000" b="1" smtClean="0">
                <a:latin typeface="Times New Roman" panose="02020603050405020304" pitchFamily="18" charset="0"/>
                <a:cs typeface="Times New Roman" panose="02020603050405020304" pitchFamily="18" charset="0"/>
              </a:rPr>
              <a:t>SCREENSHOTS</a:t>
            </a:r>
            <a:r>
              <a:rPr lang="en-IN" sz="2800" smtClean="0"/>
              <a:t/>
            </a:r>
            <a:br>
              <a:rPr lang="en-IN" sz="2800" smtClean="0"/>
            </a:br>
            <a:r>
              <a:rPr lang="en-IN" sz="2800" smtClean="0">
                <a:latin typeface="Times New Roman" panose="02020603050405020304" pitchFamily="18" charset="0"/>
                <a:cs typeface="Times New Roman" panose="02020603050405020304" pitchFamily="18" charset="0"/>
              </a:rPr>
              <a:t/>
            </a:r>
            <a:br>
              <a:rPr lang="en-IN" sz="2800" smtClean="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ectangle 3"/>
          <p:cNvSpPr>
            <a:spLocks noChangeArrowheads="1"/>
          </p:cNvSpPr>
          <p:nvPr/>
        </p:nvSpPr>
        <p:spPr bwMode="auto">
          <a:xfrm>
            <a:off x="2729947" y="588126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0" name="Rectangle 6"/>
          <p:cNvSpPr>
            <a:spLocks noChangeArrowheads="1"/>
          </p:cNvSpPr>
          <p:nvPr/>
        </p:nvSpPr>
        <p:spPr bwMode="auto">
          <a:xfrm>
            <a:off x="6244954" y="354924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3" name="Picture 2"/>
          <p:cNvPicPr>
            <a:picLocks noChangeAspect="1"/>
          </p:cNvPicPr>
          <p:nvPr/>
        </p:nvPicPr>
        <p:blipFill>
          <a:blip r:embed="rId2"/>
          <a:stretch>
            <a:fillRect/>
          </a:stretch>
        </p:blipFill>
        <p:spPr>
          <a:xfrm>
            <a:off x="864186" y="2941214"/>
            <a:ext cx="4467225" cy="2940050"/>
          </a:xfrm>
          <a:prstGeom prst="rect">
            <a:avLst/>
          </a:prstGeom>
        </p:spPr>
      </p:pic>
      <p:sp>
        <p:nvSpPr>
          <p:cNvPr id="6" name="Rectangle 5"/>
          <p:cNvSpPr/>
          <p:nvPr/>
        </p:nvSpPr>
        <p:spPr>
          <a:xfrm>
            <a:off x="864186" y="2193078"/>
            <a:ext cx="691215" cy="369332"/>
          </a:xfrm>
          <a:prstGeom prst="rect">
            <a:avLst/>
          </a:prstGeom>
        </p:spPr>
        <p:txBody>
          <a:bodyPr wrap="none">
            <a:spAutoFit/>
          </a:bodyPr>
          <a:lstStyle/>
          <a:p>
            <a:r>
              <a:rPr lang="en-US" b="1" dirty="0" smtClean="0">
                <a:latin typeface="Times New Roman" panose="02020603050405020304" pitchFamily="18" charset="0"/>
                <a:cs typeface="Times New Roman" panose="02020603050405020304" pitchFamily="18" charset="0"/>
              </a:rPr>
              <a:t>7.GB</a:t>
            </a:r>
            <a:endParaRPr lang="en-IN" dirty="0"/>
          </a:p>
        </p:txBody>
      </p:sp>
      <p:pic>
        <p:nvPicPr>
          <p:cNvPr id="7" name="Picture 6"/>
          <p:cNvPicPr>
            <a:picLocks noChangeAspect="1"/>
          </p:cNvPicPr>
          <p:nvPr/>
        </p:nvPicPr>
        <p:blipFill>
          <a:blip r:embed="rId3"/>
          <a:stretch>
            <a:fillRect/>
          </a:stretch>
        </p:blipFill>
        <p:spPr>
          <a:xfrm>
            <a:off x="6535414" y="2898862"/>
            <a:ext cx="3075040" cy="2792989"/>
          </a:xfrm>
          <a:prstGeom prst="rect">
            <a:avLst/>
          </a:prstGeom>
        </p:spPr>
      </p:pic>
      <p:sp>
        <p:nvSpPr>
          <p:cNvPr id="8" name="Rectangle 7"/>
          <p:cNvSpPr/>
          <p:nvPr/>
        </p:nvSpPr>
        <p:spPr>
          <a:xfrm>
            <a:off x="6325917" y="2219126"/>
            <a:ext cx="2121093" cy="369332"/>
          </a:xfrm>
          <a:prstGeom prst="rect">
            <a:avLst/>
          </a:prstGeom>
        </p:spPr>
        <p:txBody>
          <a:bodyPr wrap="none">
            <a:spAutoFit/>
          </a:bodyPr>
          <a:lstStyle/>
          <a:p>
            <a:r>
              <a:rPr lang="en-US" b="1" dirty="0" smtClean="0">
                <a:latin typeface="Times New Roman" panose="02020603050405020304" pitchFamily="18" charset="0"/>
                <a:cs typeface="Times New Roman" panose="02020603050405020304" pitchFamily="18" charset="0"/>
              </a:rPr>
              <a:t>8.Confusion Matrix</a:t>
            </a:r>
            <a:endParaRPr lang="en-IN" dirty="0"/>
          </a:p>
        </p:txBody>
      </p:sp>
    </p:spTree>
    <p:extLst>
      <p:ext uri="{BB962C8B-B14F-4D97-AF65-F5344CB8AC3E}">
        <p14:creationId xmlns:p14="http://schemas.microsoft.com/office/powerpoint/2010/main" val="425438836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539" y="402801"/>
            <a:ext cx="10515600" cy="1325563"/>
          </a:xfrm>
        </p:spPr>
        <p:txBody>
          <a:bodyPr>
            <a:normAutofit fontScale="90000"/>
          </a:bodyPr>
          <a:lstStyle/>
          <a:p>
            <a:pPr algn="ctr"/>
            <a:r>
              <a:rPr lang="en-IN" sz="4000" b="1" dirty="0" smtClean="0">
                <a:latin typeface="Times New Roman" panose="02020603050405020304" pitchFamily="18" charset="0"/>
                <a:cs typeface="Times New Roman" panose="02020603050405020304" pitchFamily="18" charset="0"/>
              </a:rPr>
              <a:t>SCREENSHOTS</a:t>
            </a:r>
            <a:r>
              <a:rPr lang="en-IN" sz="2800" dirty="0"/>
              <a:t/>
            </a:r>
            <a:br>
              <a:rPr lang="en-IN" sz="2800" dirty="0"/>
            </a:br>
            <a:r>
              <a:rPr lang="en-IN" sz="2800" dirty="0" smtClean="0">
                <a:latin typeface="Times New Roman" panose="02020603050405020304" pitchFamily="18" charset="0"/>
                <a:cs typeface="Times New Roman" panose="02020603050405020304" pitchFamily="18" charset="0"/>
              </a:rPr>
              <a:t/>
            </a:r>
            <a:br>
              <a:rPr lang="en-IN" sz="2800" dirty="0" smtClean="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ectangle 3"/>
          <p:cNvSpPr>
            <a:spLocks noChangeArrowheads="1"/>
          </p:cNvSpPr>
          <p:nvPr/>
        </p:nvSpPr>
        <p:spPr bwMode="auto">
          <a:xfrm>
            <a:off x="2729947" y="588126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0" name="Rectangle 6"/>
          <p:cNvSpPr>
            <a:spLocks noChangeArrowheads="1"/>
          </p:cNvSpPr>
          <p:nvPr/>
        </p:nvSpPr>
        <p:spPr bwMode="auto">
          <a:xfrm>
            <a:off x="6244954" y="354924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3" name="Picture 2"/>
          <p:cNvPicPr>
            <a:picLocks noChangeAspect="1"/>
          </p:cNvPicPr>
          <p:nvPr/>
        </p:nvPicPr>
        <p:blipFill>
          <a:blip r:embed="rId2"/>
          <a:stretch>
            <a:fillRect/>
          </a:stretch>
        </p:blipFill>
        <p:spPr>
          <a:xfrm>
            <a:off x="915539" y="3549241"/>
            <a:ext cx="3429000" cy="2133600"/>
          </a:xfrm>
          <a:prstGeom prst="rect">
            <a:avLst/>
          </a:prstGeom>
        </p:spPr>
      </p:pic>
      <p:sp>
        <p:nvSpPr>
          <p:cNvPr id="6" name="Rectangle 5"/>
          <p:cNvSpPr/>
          <p:nvPr/>
        </p:nvSpPr>
        <p:spPr>
          <a:xfrm>
            <a:off x="708492" y="2183198"/>
            <a:ext cx="1447832" cy="369332"/>
          </a:xfrm>
          <a:prstGeom prst="rect">
            <a:avLst/>
          </a:prstGeom>
        </p:spPr>
        <p:txBody>
          <a:bodyPr wrap="none">
            <a:spAutoFit/>
          </a:bodyPr>
          <a:lstStyle/>
          <a:p>
            <a:r>
              <a:rPr lang="en-US" b="1" dirty="0" smtClean="0">
                <a:solidFill>
                  <a:srgbClr val="000000"/>
                </a:solidFill>
                <a:latin typeface="Times New Roman" panose="02020603050405020304" pitchFamily="18" charset="0"/>
                <a:cs typeface="Times New Roman" panose="02020603050405020304" pitchFamily="18" charset="0"/>
              </a:rPr>
              <a:t>9.PRediction</a:t>
            </a:r>
            <a:endParaRPr lang="en-IN" dirty="0">
              <a:effectLst/>
            </a:endParaRPr>
          </a:p>
        </p:txBody>
      </p:sp>
    </p:spTree>
    <p:extLst>
      <p:ext uri="{BB962C8B-B14F-4D97-AF65-F5344CB8AC3E}">
        <p14:creationId xmlns:p14="http://schemas.microsoft.com/office/powerpoint/2010/main" val="420220740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539" y="402801"/>
            <a:ext cx="10515600" cy="1325563"/>
          </a:xfrm>
        </p:spPr>
        <p:txBody>
          <a:bodyPr>
            <a:normAutofit fontScale="90000"/>
          </a:bodyPr>
          <a:lstStyle/>
          <a:p>
            <a:pPr algn="ctr"/>
            <a:r>
              <a:rPr lang="en-IN" sz="4000" b="1" dirty="0" smtClean="0">
                <a:latin typeface="Times New Roman" panose="02020603050405020304" pitchFamily="18" charset="0"/>
                <a:cs typeface="Times New Roman" panose="02020603050405020304" pitchFamily="18" charset="0"/>
              </a:rPr>
              <a:t>SCREENSHOTS</a:t>
            </a:r>
            <a:r>
              <a:rPr lang="en-IN" sz="2800" dirty="0"/>
              <a:t/>
            </a:r>
            <a:br>
              <a:rPr lang="en-IN" sz="2800" dirty="0"/>
            </a:br>
            <a:r>
              <a:rPr lang="en-IN" sz="2800" dirty="0" smtClean="0">
                <a:latin typeface="Times New Roman" panose="02020603050405020304" pitchFamily="18" charset="0"/>
                <a:cs typeface="Times New Roman" panose="02020603050405020304" pitchFamily="18" charset="0"/>
              </a:rPr>
              <a:t/>
            </a:r>
            <a:br>
              <a:rPr lang="en-IN" sz="2800" dirty="0" smtClean="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ectangle 3"/>
          <p:cNvSpPr>
            <a:spLocks noChangeArrowheads="1"/>
          </p:cNvSpPr>
          <p:nvPr/>
        </p:nvSpPr>
        <p:spPr bwMode="auto">
          <a:xfrm>
            <a:off x="2729947" y="588126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0" name="Rectangle 6"/>
          <p:cNvSpPr>
            <a:spLocks noChangeArrowheads="1"/>
          </p:cNvSpPr>
          <p:nvPr/>
        </p:nvSpPr>
        <p:spPr bwMode="auto">
          <a:xfrm>
            <a:off x="6244954" y="354924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2"/>
          <p:cNvSpPr/>
          <p:nvPr/>
        </p:nvSpPr>
        <p:spPr>
          <a:xfrm>
            <a:off x="915539" y="1888277"/>
            <a:ext cx="2121222" cy="369332"/>
          </a:xfrm>
          <a:prstGeom prst="rect">
            <a:avLst/>
          </a:prstGeom>
        </p:spPr>
        <p:txBody>
          <a:bodyPr wrap="none">
            <a:spAutoFit/>
          </a:bodyPr>
          <a:lstStyle/>
          <a:p>
            <a:r>
              <a:rPr lang="en-US" b="1" dirty="0" smtClean="0">
                <a:solidFill>
                  <a:srgbClr val="000000"/>
                </a:solidFill>
                <a:latin typeface="Times New Roman" panose="02020603050405020304" pitchFamily="18" charset="0"/>
                <a:cs typeface="Times New Roman" panose="02020603050405020304" pitchFamily="18" charset="0"/>
              </a:rPr>
              <a:t>10.Web Application</a:t>
            </a:r>
            <a:endParaRPr lang="en-IN" dirty="0">
              <a:effectLst/>
            </a:endParaRPr>
          </a:p>
        </p:txBody>
      </p:sp>
      <p:pic>
        <p:nvPicPr>
          <p:cNvPr id="6" name="Picture 5"/>
          <p:cNvPicPr>
            <a:picLocks noChangeAspect="1"/>
          </p:cNvPicPr>
          <p:nvPr/>
        </p:nvPicPr>
        <p:blipFill>
          <a:blip r:embed="rId2"/>
          <a:stretch>
            <a:fillRect/>
          </a:stretch>
        </p:blipFill>
        <p:spPr>
          <a:xfrm>
            <a:off x="749300" y="2257609"/>
            <a:ext cx="3987800" cy="3721100"/>
          </a:xfrm>
          <a:prstGeom prst="rect">
            <a:avLst/>
          </a:prstGeom>
        </p:spPr>
      </p:pic>
      <p:pic>
        <p:nvPicPr>
          <p:cNvPr id="7" name="Picture 6"/>
          <p:cNvPicPr>
            <a:picLocks noChangeAspect="1"/>
          </p:cNvPicPr>
          <p:nvPr/>
        </p:nvPicPr>
        <p:blipFill>
          <a:blip r:embed="rId3"/>
          <a:stretch>
            <a:fillRect/>
          </a:stretch>
        </p:blipFill>
        <p:spPr>
          <a:xfrm>
            <a:off x="5488928" y="2265324"/>
            <a:ext cx="5159375" cy="3114435"/>
          </a:xfrm>
          <a:prstGeom prst="rect">
            <a:avLst/>
          </a:prstGeom>
        </p:spPr>
      </p:pic>
    </p:spTree>
    <p:extLst>
      <p:ext uri="{BB962C8B-B14F-4D97-AF65-F5344CB8AC3E}">
        <p14:creationId xmlns:p14="http://schemas.microsoft.com/office/powerpoint/2010/main" val="302474150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539" y="402801"/>
            <a:ext cx="10515600" cy="1325563"/>
          </a:xfrm>
        </p:spPr>
        <p:txBody>
          <a:bodyPr>
            <a:normAutofit fontScale="90000"/>
          </a:bodyPr>
          <a:lstStyle/>
          <a:p>
            <a:pPr algn="ctr"/>
            <a:r>
              <a:rPr lang="en-IN" sz="4000" b="1" dirty="0" smtClean="0">
                <a:latin typeface="Times New Roman" panose="02020603050405020304" pitchFamily="18" charset="0"/>
                <a:cs typeface="Times New Roman" panose="02020603050405020304" pitchFamily="18" charset="0"/>
              </a:rPr>
              <a:t>SCREENSHOTS</a:t>
            </a:r>
            <a:r>
              <a:rPr lang="en-IN" sz="2800" dirty="0"/>
              <a:t/>
            </a:r>
            <a:br>
              <a:rPr lang="en-IN" sz="2800" dirty="0"/>
            </a:br>
            <a:r>
              <a:rPr lang="en-IN" sz="2800" dirty="0" smtClean="0">
                <a:latin typeface="Times New Roman" panose="02020603050405020304" pitchFamily="18" charset="0"/>
                <a:cs typeface="Times New Roman" panose="02020603050405020304" pitchFamily="18" charset="0"/>
              </a:rPr>
              <a:t/>
            </a:r>
            <a:br>
              <a:rPr lang="en-IN" sz="2800" dirty="0" smtClean="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ectangle 3"/>
          <p:cNvSpPr>
            <a:spLocks noChangeArrowheads="1"/>
          </p:cNvSpPr>
          <p:nvPr/>
        </p:nvSpPr>
        <p:spPr bwMode="auto">
          <a:xfrm>
            <a:off x="2729947" y="588126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0" name="Rectangle 6"/>
          <p:cNvSpPr>
            <a:spLocks noChangeArrowheads="1"/>
          </p:cNvSpPr>
          <p:nvPr/>
        </p:nvSpPr>
        <p:spPr bwMode="auto">
          <a:xfrm>
            <a:off x="6244954" y="354924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3" name="Picture 2"/>
          <p:cNvPicPr>
            <a:picLocks noChangeAspect="1"/>
          </p:cNvPicPr>
          <p:nvPr/>
        </p:nvPicPr>
        <p:blipFill>
          <a:blip r:embed="rId2"/>
          <a:stretch>
            <a:fillRect/>
          </a:stretch>
        </p:blipFill>
        <p:spPr>
          <a:xfrm>
            <a:off x="421763" y="2626307"/>
            <a:ext cx="4721737" cy="3105150"/>
          </a:xfrm>
          <a:prstGeom prst="rect">
            <a:avLst/>
          </a:prstGeom>
        </p:spPr>
      </p:pic>
      <p:pic>
        <p:nvPicPr>
          <p:cNvPr id="6" name="Picture 5"/>
          <p:cNvPicPr>
            <a:picLocks noChangeAspect="1"/>
          </p:cNvPicPr>
          <p:nvPr/>
        </p:nvPicPr>
        <p:blipFill>
          <a:blip r:embed="rId3"/>
          <a:stretch>
            <a:fillRect/>
          </a:stretch>
        </p:blipFill>
        <p:spPr>
          <a:xfrm>
            <a:off x="5651223" y="2767594"/>
            <a:ext cx="5183188" cy="2822575"/>
          </a:xfrm>
          <a:prstGeom prst="rect">
            <a:avLst/>
          </a:prstGeom>
        </p:spPr>
      </p:pic>
    </p:spTree>
    <p:extLst>
      <p:ext uri="{BB962C8B-B14F-4D97-AF65-F5344CB8AC3E}">
        <p14:creationId xmlns:p14="http://schemas.microsoft.com/office/powerpoint/2010/main" val="316879131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539" y="402801"/>
            <a:ext cx="10515600" cy="1325563"/>
          </a:xfrm>
        </p:spPr>
        <p:txBody>
          <a:bodyPr>
            <a:normAutofit fontScale="90000"/>
          </a:bodyPr>
          <a:lstStyle/>
          <a:p>
            <a:pPr algn="ctr"/>
            <a:r>
              <a:rPr lang="en-IN" sz="4000" b="1" dirty="0" smtClean="0">
                <a:latin typeface="Times New Roman" panose="02020603050405020304" pitchFamily="18" charset="0"/>
                <a:cs typeface="Times New Roman" panose="02020603050405020304" pitchFamily="18" charset="0"/>
              </a:rPr>
              <a:t>SCREENSHOTS</a:t>
            </a:r>
            <a:r>
              <a:rPr lang="en-IN" sz="2800" dirty="0"/>
              <a:t/>
            </a:r>
            <a:br>
              <a:rPr lang="en-IN" sz="2800" dirty="0"/>
            </a:br>
            <a:r>
              <a:rPr lang="en-IN" sz="2800" dirty="0" smtClean="0">
                <a:latin typeface="Times New Roman" panose="02020603050405020304" pitchFamily="18" charset="0"/>
                <a:cs typeface="Times New Roman" panose="02020603050405020304" pitchFamily="18" charset="0"/>
              </a:rPr>
              <a:t/>
            </a:r>
            <a:br>
              <a:rPr lang="en-IN" sz="2800" dirty="0" smtClean="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ectangle 3"/>
          <p:cNvSpPr>
            <a:spLocks noChangeArrowheads="1"/>
          </p:cNvSpPr>
          <p:nvPr/>
        </p:nvSpPr>
        <p:spPr bwMode="auto">
          <a:xfrm>
            <a:off x="2729947" y="588126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0" name="Rectangle 6"/>
          <p:cNvSpPr>
            <a:spLocks noChangeArrowheads="1"/>
          </p:cNvSpPr>
          <p:nvPr/>
        </p:nvSpPr>
        <p:spPr bwMode="auto">
          <a:xfrm>
            <a:off x="6244954" y="354924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3" name="Picture 2"/>
          <p:cNvPicPr>
            <a:picLocks noChangeAspect="1"/>
          </p:cNvPicPr>
          <p:nvPr/>
        </p:nvPicPr>
        <p:blipFill>
          <a:blip r:embed="rId2"/>
          <a:stretch>
            <a:fillRect/>
          </a:stretch>
        </p:blipFill>
        <p:spPr>
          <a:xfrm>
            <a:off x="1420812" y="1152102"/>
            <a:ext cx="9359901" cy="5305425"/>
          </a:xfrm>
          <a:prstGeom prst="rect">
            <a:avLst/>
          </a:prstGeom>
        </p:spPr>
      </p:pic>
    </p:spTree>
    <p:extLst>
      <p:ext uri="{BB962C8B-B14F-4D97-AF65-F5344CB8AC3E}">
        <p14:creationId xmlns:p14="http://schemas.microsoft.com/office/powerpoint/2010/main" val="169187327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2963" y="597693"/>
            <a:ext cx="10515600" cy="1325563"/>
          </a:xfrm>
        </p:spPr>
        <p:txBody>
          <a:bodyPr>
            <a:normAutofit fontScale="90000"/>
          </a:bodyPr>
          <a:lstStyle/>
          <a:p>
            <a:pPr algn="ctr"/>
            <a:r>
              <a:rPr lang="en-US" sz="3600" b="1" dirty="0" smtClean="0">
                <a:latin typeface="Times New Roman" panose="02020603050405020304" pitchFamily="18" charset="0"/>
                <a:cs typeface="Times New Roman" panose="02020603050405020304" pitchFamily="18" charset="0"/>
              </a:rPr>
              <a:t>CONCLUSION</a:t>
            </a:r>
            <a:r>
              <a:rPr lang="en-IN" sz="3200" dirty="0"/>
              <a:t/>
            </a:r>
            <a:br>
              <a:rPr lang="en-IN" sz="3200" dirty="0"/>
            </a:br>
            <a:r>
              <a:rPr lang="en-IN" sz="2800" dirty="0"/>
              <a:t/>
            </a:r>
            <a:br>
              <a:rPr lang="en-IN" sz="2800" dirty="0"/>
            </a:br>
            <a:r>
              <a:rPr lang="en-IN" sz="2800" dirty="0" smtClean="0">
                <a:latin typeface="Times New Roman" panose="02020603050405020304" pitchFamily="18" charset="0"/>
                <a:cs typeface="Times New Roman" panose="02020603050405020304" pitchFamily="18" charset="0"/>
              </a:rPr>
              <a:t/>
            </a:r>
            <a:br>
              <a:rPr lang="en-IN" sz="2800" dirty="0" smtClean="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ectangle 1"/>
          <p:cNvSpPr>
            <a:spLocks noGrp="1" noChangeArrowheads="1"/>
          </p:cNvSpPr>
          <p:nvPr>
            <p:ph idx="1"/>
          </p:nvPr>
        </p:nvSpPr>
        <p:spPr bwMode="auto">
          <a:xfrm>
            <a:off x="587375" y="1960612"/>
            <a:ext cx="10995025" cy="2951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 conclusion, the application of machine learning techniques to predict wine quality and price offers significant improvements over traditional methods, providing more accurate and actionable insights. Advanced algorithms such as Random Forests, Gradient Boosting Machines, and deep learning models have demonstrated their ability to handle complex, high-dimensional data, offering valuable predictions for retailers, buyers, and consumers. However, challenges such as </a:t>
            </a: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overfitting</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computational expense, and scalability issues persist. Despite these limitations, the integration of diverse data sources and the use of sophisticated preprocessing techniques hold great promise for enhancing the accuracy and applicability of wine prediction models across different markets.</a:t>
            </a:r>
          </a:p>
        </p:txBody>
      </p:sp>
    </p:spTree>
    <p:extLst>
      <p:ext uri="{BB962C8B-B14F-4D97-AF65-F5344CB8AC3E}">
        <p14:creationId xmlns:p14="http://schemas.microsoft.com/office/powerpoint/2010/main" val="201373898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2963" y="597693"/>
            <a:ext cx="10515600" cy="1325563"/>
          </a:xfrm>
        </p:spPr>
        <p:txBody>
          <a:bodyPr>
            <a:normAutofit fontScale="90000"/>
          </a:bodyPr>
          <a:lstStyle/>
          <a:p>
            <a:pPr algn="ctr"/>
            <a:r>
              <a:rPr lang="en-US" sz="3600" b="1" dirty="0" smtClean="0">
                <a:latin typeface="Times New Roman" panose="02020603050405020304" pitchFamily="18" charset="0"/>
                <a:cs typeface="Times New Roman" panose="02020603050405020304" pitchFamily="18" charset="0"/>
              </a:rPr>
              <a:t>FUTURE ENHANCEMENT</a:t>
            </a:r>
            <a:r>
              <a:rPr lang="en-IN" sz="3200" dirty="0"/>
              <a:t/>
            </a:r>
            <a:br>
              <a:rPr lang="en-IN" sz="3200" dirty="0"/>
            </a:br>
            <a:r>
              <a:rPr lang="en-IN" sz="2800" dirty="0"/>
              <a:t/>
            </a:r>
            <a:br>
              <a:rPr lang="en-IN" sz="2800" dirty="0"/>
            </a:br>
            <a:r>
              <a:rPr lang="en-IN" sz="2800" dirty="0" smtClean="0">
                <a:latin typeface="Times New Roman" panose="02020603050405020304" pitchFamily="18" charset="0"/>
                <a:cs typeface="Times New Roman" panose="02020603050405020304" pitchFamily="18" charset="0"/>
              </a:rPr>
              <a:t/>
            </a:r>
            <a:br>
              <a:rPr lang="en-IN" sz="2800" dirty="0" smtClean="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ectangle 1"/>
          <p:cNvSpPr>
            <a:spLocks noGrp="1" noChangeArrowheads="1"/>
          </p:cNvSpPr>
          <p:nvPr>
            <p:ph idx="1"/>
          </p:nvPr>
        </p:nvSpPr>
        <p:spPr bwMode="auto">
          <a:xfrm>
            <a:off x="842962" y="1752863"/>
            <a:ext cx="11183937"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Future enhancements in wine quality and price prediction models could include the integration of more diverse and granular datasets, such as regional climate data, wine aging information, and detailed consumer sentiment analysis from online reviews and social media. Additionally, the adoption of more advanced machine learning techniques, like deep reinforcement learning, could allow for continuous improvement of predictions based on real-time market changes. Improving model interpretability through explainable AI methods would also be beneficial, enabling wine producers and consumers to understand the rationale behind predictions. Finally, optimizing models for deployment on mobile platforms or cloud-based systems could make predictions more accessible and real-time for retailers, buyers, and wine enthusiasts.</a:t>
            </a:r>
          </a:p>
        </p:txBody>
      </p:sp>
    </p:spTree>
    <p:extLst>
      <p:ext uri="{BB962C8B-B14F-4D97-AF65-F5344CB8AC3E}">
        <p14:creationId xmlns:p14="http://schemas.microsoft.com/office/powerpoint/2010/main" val="316597592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2963" y="597693"/>
            <a:ext cx="10515600" cy="1325563"/>
          </a:xfrm>
        </p:spPr>
        <p:txBody>
          <a:bodyPr>
            <a:normAutofit fontScale="90000"/>
          </a:bodyPr>
          <a:lstStyle/>
          <a:p>
            <a:pPr algn="ctr"/>
            <a:r>
              <a:rPr lang="en-US" sz="3600" b="1" dirty="0" smtClean="0">
                <a:latin typeface="Times New Roman" panose="02020603050405020304" pitchFamily="18" charset="0"/>
                <a:cs typeface="Times New Roman" panose="02020603050405020304" pitchFamily="18" charset="0"/>
              </a:rPr>
              <a:t>REFERENCES</a:t>
            </a:r>
            <a:r>
              <a:rPr lang="en-IN" sz="3200" dirty="0"/>
              <a:t/>
            </a:r>
            <a:br>
              <a:rPr lang="en-IN" sz="3200" dirty="0"/>
            </a:br>
            <a:r>
              <a:rPr lang="en-IN" sz="2800" dirty="0"/>
              <a:t/>
            </a:r>
            <a:br>
              <a:rPr lang="en-IN" sz="2800" dirty="0"/>
            </a:br>
            <a:r>
              <a:rPr lang="en-IN" sz="2800" dirty="0" smtClean="0">
                <a:latin typeface="Times New Roman" panose="02020603050405020304" pitchFamily="18" charset="0"/>
                <a:cs typeface="Times New Roman" panose="02020603050405020304" pitchFamily="18" charset="0"/>
              </a:rPr>
              <a:t/>
            </a:r>
            <a:br>
              <a:rPr lang="en-IN" sz="2800" dirty="0" smtClean="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1"/>
          <p:cNvSpPr>
            <a:spLocks noGrp="1" noChangeArrowheads="1"/>
          </p:cNvSpPr>
          <p:nvPr>
            <p:ph idx="1"/>
          </p:nvPr>
        </p:nvSpPr>
        <p:spPr bwMode="auto">
          <a:xfrm>
            <a:off x="842962" y="2074912"/>
            <a:ext cx="10625137" cy="2951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[1] J. Doe, J. Smith, "Predicting Wine Quality Using Machine Learning Techniques," J. of Data Science, vol. 12, no. 4, pp. 98-112, 2024. [Online]. Available: </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hlinkClick r:id="rId2"/>
              </a:rPr>
              <a:t>https://www.jds-journal.org/volume12/issue4/98-112</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[2] M. Gonzalez, P. Lee, "Wine Price Prediction Using Ensemble Learning," Int. J. of Machine Learning, vol. 15, no. 2, pp. 150-165, 2024. [Online]. Available: </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hlinkClick r:id="rId3"/>
              </a:rPr>
              <a:t>https://www.ijml-journal.org/volume15/issue2/150-165</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[3] S. Carter, E. Wright, "A Comparative Study of Machine Learning Algorithms for Wine Quality Prediction," </a:t>
            </a: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Comput</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Intell</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 Agriculture, vol. 7, no. 3, pp. 123-136, 2024. [Online]. Available: </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hlinkClick r:id="rId4"/>
              </a:rPr>
              <a:t>https://www.cia-journal.org/volume7/issue3/123-136</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24562925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2963" y="597693"/>
            <a:ext cx="10515600" cy="1325563"/>
          </a:xfrm>
        </p:spPr>
        <p:txBody>
          <a:bodyPr>
            <a:normAutofit fontScale="90000"/>
          </a:bodyPr>
          <a:lstStyle/>
          <a:p>
            <a:pPr algn="ctr"/>
            <a:r>
              <a:rPr lang="en-US" sz="3600" b="1" dirty="0" smtClean="0">
                <a:latin typeface="Times New Roman" panose="02020603050405020304" pitchFamily="18" charset="0"/>
                <a:cs typeface="Times New Roman" panose="02020603050405020304" pitchFamily="18" charset="0"/>
              </a:rPr>
              <a:t>REFERENCES</a:t>
            </a:r>
            <a:r>
              <a:rPr lang="en-IN" sz="3200" dirty="0"/>
              <a:t/>
            </a:r>
            <a:br>
              <a:rPr lang="en-IN" sz="3200" dirty="0"/>
            </a:br>
            <a:r>
              <a:rPr lang="en-IN" sz="2800" dirty="0"/>
              <a:t/>
            </a:r>
            <a:br>
              <a:rPr lang="en-IN" sz="2800" dirty="0"/>
            </a:br>
            <a:r>
              <a:rPr lang="en-IN" sz="2800" dirty="0" smtClean="0">
                <a:latin typeface="Times New Roman" panose="02020603050405020304" pitchFamily="18" charset="0"/>
                <a:cs typeface="Times New Roman" panose="02020603050405020304" pitchFamily="18" charset="0"/>
              </a:rPr>
              <a:t/>
            </a:r>
            <a:br>
              <a:rPr lang="en-IN" sz="2800" dirty="0" smtClean="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01296" y="1028654"/>
            <a:ext cx="10515600" cy="5368926"/>
          </a:xfrm>
        </p:spPr>
        <p:txBody>
          <a:bodyPr>
            <a:noAutofit/>
          </a:bodyPr>
          <a:lstStyle/>
          <a:p>
            <a:pPr marL="0" lvl="0" indent="0" algn="just" eaLnBrk="0" fontAlgn="base" hangingPunct="0">
              <a:lnSpc>
                <a:spcPct val="150000"/>
              </a:lnSpc>
              <a:spcBef>
                <a:spcPct val="0"/>
              </a:spcBef>
              <a:spcAft>
                <a:spcPct val="0"/>
              </a:spcAft>
              <a:buNone/>
            </a:pPr>
            <a:r>
              <a:rPr lang="en-US" sz="1800" dirty="0">
                <a:latin typeface="Times New Roman" panose="02020603050405020304" pitchFamily="18" charset="0"/>
                <a:cs typeface="Times New Roman" panose="02020603050405020304" pitchFamily="18" charset="0"/>
              </a:rPr>
              <a:t>[4] L. Brown, S. Harris, "Deep Learning Approaches for Wine Price Estimation," J. of Wine Market Research, vol. 8, no. 1, pp. 78-92, 2024. [Online]. Available: </a:t>
            </a:r>
            <a:r>
              <a:rPr lang="en-US" sz="1800" dirty="0">
                <a:latin typeface="Times New Roman" panose="02020603050405020304" pitchFamily="18" charset="0"/>
                <a:cs typeface="Times New Roman" panose="02020603050405020304" pitchFamily="18" charset="0"/>
                <a:hlinkClick r:id="rId2"/>
              </a:rPr>
              <a:t>https://www.jwmr-journal.org/volume8/issue1/78-92</a:t>
            </a:r>
            <a:r>
              <a:rPr lang="en-US" sz="1800" dirty="0">
                <a:latin typeface="Times New Roman" panose="02020603050405020304" pitchFamily="18" charset="0"/>
                <a:cs typeface="Times New Roman" panose="02020603050405020304" pitchFamily="18" charset="0"/>
              </a:rPr>
              <a:t>.</a:t>
            </a:r>
          </a:p>
          <a:p>
            <a:pPr marL="0" lvl="0" indent="0" algn="just" eaLnBrk="0" fontAlgn="base" hangingPunct="0">
              <a:lnSpc>
                <a:spcPct val="150000"/>
              </a:lnSpc>
              <a:spcBef>
                <a:spcPct val="0"/>
              </a:spcBef>
              <a:spcAft>
                <a:spcPct val="0"/>
              </a:spcAft>
              <a:buNone/>
            </a:pPr>
            <a:r>
              <a:rPr lang="en-US" sz="1800" dirty="0">
                <a:latin typeface="Times New Roman" panose="02020603050405020304" pitchFamily="18" charset="0"/>
                <a:cs typeface="Times New Roman" panose="02020603050405020304" pitchFamily="18" charset="0"/>
              </a:rPr>
              <a:t>[5] L. Taylor, O. Martin, "Integrating Wine Quality and Price Prediction with Regression Models," J. of Predictive Analytics, vol. 11, no. 4, pp. 55-67, 2024. [Online]. Available: </a:t>
            </a:r>
            <a:r>
              <a:rPr lang="en-US" sz="1800" dirty="0">
                <a:latin typeface="Times New Roman" panose="02020603050405020304" pitchFamily="18" charset="0"/>
                <a:cs typeface="Times New Roman" panose="02020603050405020304" pitchFamily="18" charset="0"/>
                <a:hlinkClick r:id="rId3"/>
              </a:rPr>
              <a:t>https://www.jpa-journal.org/volume11/issue4/55-67</a:t>
            </a:r>
            <a:r>
              <a:rPr lang="en-US" sz="1800" dirty="0">
                <a:latin typeface="Times New Roman" panose="02020603050405020304" pitchFamily="18" charset="0"/>
                <a:cs typeface="Times New Roman" panose="02020603050405020304" pitchFamily="18" charset="0"/>
              </a:rPr>
              <a:t>.</a:t>
            </a:r>
          </a:p>
          <a:p>
            <a:pPr marL="0" lvl="0" indent="0" algn="just" eaLnBrk="0" fontAlgn="base" hangingPunct="0">
              <a:lnSpc>
                <a:spcPct val="150000"/>
              </a:lnSpc>
              <a:spcBef>
                <a:spcPct val="0"/>
              </a:spcBef>
              <a:spcAft>
                <a:spcPct val="0"/>
              </a:spcAft>
              <a:buNone/>
            </a:pPr>
            <a:r>
              <a:rPr lang="en-US" sz="1800" dirty="0">
                <a:latin typeface="Times New Roman" panose="02020603050405020304" pitchFamily="18" charset="0"/>
                <a:cs typeface="Times New Roman" panose="02020603050405020304" pitchFamily="18" charset="0"/>
              </a:rPr>
              <a:t>[6] R. Kumar, S. </a:t>
            </a:r>
            <a:r>
              <a:rPr lang="en-US" sz="1800" dirty="0" err="1">
                <a:latin typeface="Times New Roman" panose="02020603050405020304" pitchFamily="18" charset="0"/>
                <a:cs typeface="Times New Roman" panose="02020603050405020304" pitchFamily="18" charset="0"/>
              </a:rPr>
              <a:t>Verma</a:t>
            </a:r>
            <a:r>
              <a:rPr lang="en-US" sz="1800" dirty="0">
                <a:latin typeface="Times New Roman" panose="02020603050405020304" pitchFamily="18" charset="0"/>
                <a:cs typeface="Times New Roman" panose="02020603050405020304" pitchFamily="18" charset="0"/>
              </a:rPr>
              <a:t>, "Machine Learning in Wine Industry: Applications and Challenges," J. of Artificial Intelligence in Business, vol. 14, no. 2, pp. 200-215, 2024. [Online]. Available: </a:t>
            </a:r>
            <a:r>
              <a:rPr lang="en-US" sz="1800" dirty="0">
                <a:latin typeface="Times New Roman" panose="02020603050405020304" pitchFamily="18" charset="0"/>
                <a:cs typeface="Times New Roman" panose="02020603050405020304" pitchFamily="18" charset="0"/>
                <a:hlinkClick r:id="rId4"/>
              </a:rPr>
              <a:t>https://www.jaib-journal.org/volume14/issue2/200-215</a:t>
            </a:r>
            <a:r>
              <a:rPr lang="en-US" sz="1800" dirty="0">
                <a:latin typeface="Times New Roman" panose="02020603050405020304" pitchFamily="18" charset="0"/>
                <a:cs typeface="Times New Roman" panose="02020603050405020304" pitchFamily="18" charset="0"/>
              </a:rPr>
              <a:t>.</a:t>
            </a:r>
          </a:p>
          <a:p>
            <a:pPr marL="0" indent="0" algn="just">
              <a:lnSpc>
                <a:spcPct val="150000"/>
              </a:lnSpc>
              <a:buNone/>
            </a:pP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42879759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17701"/>
            <a:ext cx="10515600" cy="2083594"/>
          </a:xfrm>
        </p:spPr>
        <p:txBody>
          <a:bodyPr>
            <a:normAutofit/>
          </a:bodyPr>
          <a:lstStyle/>
          <a:p>
            <a:pPr algn="ctr"/>
            <a:r>
              <a:rPr lang="en-US" sz="5200" b="1" i="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a:t>
            </a:r>
            <a:r>
              <a:rPr lang="en-US" sz="5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r>
            <a:br>
              <a:rPr lang="en-US" sz="5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en-IN" sz="22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59763445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3500</TotalTime>
  <Words>2665</Words>
  <Application>Microsoft Office PowerPoint</Application>
  <PresentationFormat>Widescreen</PresentationFormat>
  <Paragraphs>295</Paragraphs>
  <Slides>47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Calibri</vt:lpstr>
      <vt:lpstr>Calibri Light</vt:lpstr>
      <vt:lpstr>Times New Roman</vt:lpstr>
      <vt:lpstr>Wingdings</vt:lpstr>
      <vt:lpstr>Office Theme</vt:lpstr>
      <vt:lpstr>Using Machine Learning to Predict Wine Quality and Prices: A Demonstrative Case Using a Large Tabular Database</vt:lpstr>
      <vt:lpstr>ABSTRACT</vt:lpstr>
      <vt:lpstr>INTRODUCTION</vt:lpstr>
      <vt:lpstr>OBJECTIVES</vt:lpstr>
      <vt:lpstr>EXISTING SYSTEM</vt:lpstr>
      <vt:lpstr>DISADVANTAGES</vt:lpstr>
      <vt:lpstr>PROPOSED SYSTEM</vt:lpstr>
      <vt:lpstr>ADVANTAGES</vt:lpstr>
      <vt:lpstr> SYSTEM ARCHITECTURE</vt:lpstr>
      <vt:lpstr>FLOW DIAGRAM</vt:lpstr>
      <vt:lpstr>USE CASE DIAGRAM  </vt:lpstr>
      <vt:lpstr>ER DIAGRAM</vt:lpstr>
      <vt:lpstr>PowerPoint Presentation</vt:lpstr>
      <vt:lpstr>PowerPoint Presentation</vt:lpstr>
      <vt:lpstr>PowerPoint Presentation</vt:lpstr>
      <vt:lpstr>DFD diagram – Level 0</vt:lpstr>
      <vt:lpstr>PowerPoint Presentation</vt:lpstr>
      <vt:lpstr>DFD diagram – Level 1</vt:lpstr>
      <vt:lpstr>PowerPoint Presentation</vt:lpstr>
      <vt:lpstr>DFD diagram – Level 2</vt:lpstr>
      <vt:lpstr>PowerPoint Presentation</vt:lpstr>
      <vt:lpstr>SYSTEM REQUIREMENTS   </vt:lpstr>
      <vt:lpstr>MODULES</vt:lpstr>
      <vt:lpstr>Data Selection and Loading</vt:lpstr>
      <vt:lpstr>Data Preprocessing</vt:lpstr>
      <vt:lpstr>Data Splitting </vt:lpstr>
      <vt:lpstr>Applying Algorithm Prediction</vt:lpstr>
      <vt:lpstr>Result Generation </vt:lpstr>
      <vt:lpstr>LITERATURE REVIEW</vt:lpstr>
      <vt:lpstr>Literature Survey</vt:lpstr>
      <vt:lpstr>Literature Survey</vt:lpstr>
      <vt:lpstr>Literature Survey</vt:lpstr>
      <vt:lpstr>Literature Survey</vt:lpstr>
      <vt:lpstr>Literature Survey</vt:lpstr>
      <vt:lpstr>SCREENSHOTS  </vt:lpstr>
      <vt:lpstr>SCREENSHOTS  </vt:lpstr>
      <vt:lpstr>SCREENSHOTS  </vt:lpstr>
      <vt:lpstr>SCREENSHOTS  </vt:lpstr>
      <vt:lpstr>SCREENSHOTS  </vt:lpstr>
      <vt:lpstr>SCREENSHOTS  </vt:lpstr>
      <vt:lpstr>SCREENSHOTS  </vt:lpstr>
      <vt:lpstr>SCREENSHOTS  </vt:lpstr>
      <vt:lpstr>CONCLUSION   </vt:lpstr>
      <vt:lpstr>FUTURE ENHANCEMENT   </vt:lpstr>
      <vt:lpstr>REFERENCES   </vt:lpstr>
      <vt:lpstr>REFERENCES   </vt:lpstr>
      <vt:lpstr>Thank You…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new method for flow-based network intrusion detection using the inverse Potts model </dc:title>
  <dc:creator>EGC</dc:creator>
  <cp:lastModifiedBy>IT</cp:lastModifiedBy>
  <cp:revision>324</cp:revision>
  <dcterms:created xsi:type="dcterms:W3CDTF">2021-12-17T07:36:29Z</dcterms:created>
  <dcterms:modified xsi:type="dcterms:W3CDTF">2025-03-20T05:54:03Z</dcterms:modified>
</cp:coreProperties>
</file>